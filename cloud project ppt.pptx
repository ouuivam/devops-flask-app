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18"/>
    </p:embeddedFont>
    <p:embeddedFont>
      <p:font typeface="Poppin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15.png" Type="http://schemas.openxmlformats.org/officeDocument/2006/relationships/image"/><Relationship Id="rId6"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900" t="0" r="-8900" b="0"/>
            </a:stretch>
          </a:blipFill>
        </p:spPr>
      </p:sp>
      <p:grpSp>
        <p:nvGrpSpPr>
          <p:cNvPr name="Group 3" id="3"/>
          <p:cNvGrpSpPr/>
          <p:nvPr/>
        </p:nvGrpSpPr>
        <p:grpSpPr>
          <a:xfrm rot="0">
            <a:off x="16249070" y="4638385"/>
            <a:ext cx="1010230" cy="101023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5" id="5"/>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6" id="6"/>
          <p:cNvGrpSpPr/>
          <p:nvPr/>
        </p:nvGrpSpPr>
        <p:grpSpPr>
          <a:xfrm rot="0">
            <a:off x="16381397" y="6183699"/>
            <a:ext cx="745577" cy="7455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8" id="8"/>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9" id="9"/>
          <p:cNvGrpSpPr/>
          <p:nvPr/>
        </p:nvGrpSpPr>
        <p:grpSpPr>
          <a:xfrm rot="0">
            <a:off x="16381397" y="3357724"/>
            <a:ext cx="745577" cy="7455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1" id="11"/>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2" id="12"/>
          <p:cNvGrpSpPr/>
          <p:nvPr/>
        </p:nvGrpSpPr>
        <p:grpSpPr>
          <a:xfrm rot="0">
            <a:off x="4822765" y="6702542"/>
            <a:ext cx="2967069" cy="807119"/>
            <a:chOff x="0" y="0"/>
            <a:chExt cx="418225" cy="113768"/>
          </a:xfrm>
        </p:grpSpPr>
        <p:sp>
          <p:nvSpPr>
            <p:cNvPr name="Freeform 13" id="13"/>
            <p:cNvSpPr/>
            <p:nvPr/>
          </p:nvSpPr>
          <p:spPr>
            <a:xfrm flipH="false" flipV="false" rot="0">
              <a:off x="0" y="0"/>
              <a:ext cx="418225" cy="113768"/>
            </a:xfrm>
            <a:custGeom>
              <a:avLst/>
              <a:gdLst/>
              <a:ahLst/>
              <a:cxnLst/>
              <a:rect r="r" b="b" t="t" l="l"/>
              <a:pathLst>
                <a:path h="113768" w="418225">
                  <a:moveTo>
                    <a:pt x="56884" y="0"/>
                  </a:moveTo>
                  <a:lnTo>
                    <a:pt x="361341" y="0"/>
                  </a:lnTo>
                  <a:cubicBezTo>
                    <a:pt x="376427" y="0"/>
                    <a:pt x="390896" y="5993"/>
                    <a:pt x="401564" y="16661"/>
                  </a:cubicBezTo>
                  <a:cubicBezTo>
                    <a:pt x="412232" y="27329"/>
                    <a:pt x="418225" y="41797"/>
                    <a:pt x="418225" y="56884"/>
                  </a:cubicBezTo>
                  <a:lnTo>
                    <a:pt x="418225" y="56884"/>
                  </a:lnTo>
                  <a:cubicBezTo>
                    <a:pt x="418225" y="88300"/>
                    <a:pt x="392757" y="113768"/>
                    <a:pt x="361341" y="113768"/>
                  </a:cubicBezTo>
                  <a:lnTo>
                    <a:pt x="56884" y="113768"/>
                  </a:lnTo>
                  <a:cubicBezTo>
                    <a:pt x="25468" y="113768"/>
                    <a:pt x="0" y="88300"/>
                    <a:pt x="0" y="56884"/>
                  </a:cubicBezTo>
                  <a:lnTo>
                    <a:pt x="0" y="56884"/>
                  </a:lnTo>
                  <a:cubicBezTo>
                    <a:pt x="0" y="25468"/>
                    <a:pt x="25468" y="0"/>
                    <a:pt x="56884"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4" id="14"/>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7983427" y="6702542"/>
            <a:ext cx="807119" cy="8071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5400000">
            <a:off x="8236174" y="6974141"/>
            <a:ext cx="301625" cy="263922"/>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20" id="20"/>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grpSp>
        <p:nvGrpSpPr>
          <p:cNvPr name="Group 21" id="21"/>
          <p:cNvGrpSpPr/>
          <p:nvPr/>
        </p:nvGrpSpPr>
        <p:grpSpPr>
          <a:xfrm rot="0">
            <a:off x="5101667" y="886061"/>
            <a:ext cx="1704988" cy="593627"/>
            <a:chOff x="0" y="0"/>
            <a:chExt cx="240327" cy="83675"/>
          </a:xfrm>
        </p:grpSpPr>
        <p:sp>
          <p:nvSpPr>
            <p:cNvPr name="Freeform 22" id="22"/>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23" id="23"/>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12860137" y="2787227"/>
            <a:ext cx="2632148" cy="2632148"/>
            <a:chOff x="0" y="0"/>
            <a:chExt cx="1652976" cy="1652976"/>
          </a:xfrm>
        </p:grpSpPr>
        <p:sp>
          <p:nvSpPr>
            <p:cNvPr name="Freeform 25" id="25"/>
            <p:cNvSpPr/>
            <p:nvPr/>
          </p:nvSpPr>
          <p:spPr>
            <a:xfrm flipH="false" flipV="false" rot="0">
              <a:off x="0" y="0"/>
              <a:ext cx="1652976" cy="1652976"/>
            </a:xfrm>
            <a:custGeom>
              <a:avLst/>
              <a:gdLst/>
              <a:ahLst/>
              <a:cxnLst/>
              <a:rect r="r" b="b" t="t" l="l"/>
              <a:pathLst>
                <a:path h="1652976" w="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26" id="26"/>
            <p:cNvSpPr txBox="true"/>
            <p:nvPr/>
          </p:nvSpPr>
          <p:spPr>
            <a:xfrm>
              <a:off x="0" y="-38100"/>
              <a:ext cx="1652976" cy="1691076"/>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0">
            <a:off x="13018112" y="2940499"/>
            <a:ext cx="2316198" cy="2325603"/>
            <a:chOff x="0" y="0"/>
            <a:chExt cx="404756" cy="406400"/>
          </a:xfrm>
        </p:grpSpPr>
        <p:sp>
          <p:nvSpPr>
            <p:cNvPr name="Freeform 28" id="28"/>
            <p:cNvSpPr/>
            <p:nvPr/>
          </p:nvSpPr>
          <p:spPr>
            <a:xfrm flipH="false" flipV="false" rot="0">
              <a:off x="0" y="0"/>
              <a:ext cx="404756" cy="406400"/>
            </a:xfrm>
            <a:custGeom>
              <a:avLst/>
              <a:gdLst/>
              <a:ahLst/>
              <a:cxnLst/>
              <a:rect r="r" b="b" t="t" l="l"/>
              <a:pathLst>
                <a:path h="406400" w="404756">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3"/>
              <a:stretch>
                <a:fillRect l="-45171" t="0" r="-45171" b="0"/>
              </a:stretch>
            </a:blipFill>
          </p:spPr>
        </p:sp>
      </p:grpSp>
      <p:sp>
        <p:nvSpPr>
          <p:cNvPr name="Freeform 29" id="29"/>
          <p:cNvSpPr/>
          <p:nvPr/>
        </p:nvSpPr>
        <p:spPr>
          <a:xfrm flipH="false" flipV="false" rot="1184083">
            <a:off x="9030336" y="6115436"/>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4">
              <a:alphaModFix amt="19999"/>
            </a:blip>
            <a:stretch>
              <a:fillRect l="0" t="0" r="0" b="0"/>
            </a:stretch>
          </a:blipFill>
        </p:spPr>
      </p:sp>
      <p:sp>
        <p:nvSpPr>
          <p:cNvPr name="TextBox 30" id="30"/>
          <p:cNvSpPr txBox="true"/>
          <p:nvPr/>
        </p:nvSpPr>
        <p:spPr>
          <a:xfrm rot="0">
            <a:off x="506008" y="2778529"/>
            <a:ext cx="11597345" cy="3617337"/>
          </a:xfrm>
          <a:prstGeom prst="rect">
            <a:avLst/>
          </a:prstGeom>
        </p:spPr>
        <p:txBody>
          <a:bodyPr anchor="t" rtlCol="false" tIns="0" lIns="0" bIns="0" rIns="0">
            <a:spAutoFit/>
          </a:bodyPr>
          <a:lstStyle/>
          <a:p>
            <a:pPr algn="ctr">
              <a:lnSpc>
                <a:spcPts val="9151"/>
              </a:lnSpc>
            </a:pPr>
            <a:r>
              <a:rPr lang="en-US" sz="8799" b="true">
                <a:solidFill>
                  <a:srgbClr val="FFFFFF"/>
                </a:solidFill>
                <a:latin typeface="Poppins Bold"/>
                <a:ea typeface="Poppins Bold"/>
                <a:cs typeface="Poppins Bold"/>
                <a:sym typeface="Poppins Bold"/>
              </a:rPr>
              <a:t>Mise en place d’une infrastructure </a:t>
            </a:r>
            <a:r>
              <a:rPr lang="en-US" sz="8799" b="true">
                <a:solidFill>
                  <a:srgbClr val="C71F82"/>
                </a:solidFill>
                <a:latin typeface="Poppins Bold"/>
                <a:ea typeface="Poppins Bold"/>
                <a:cs typeface="Poppins Bold"/>
                <a:sym typeface="Poppins Bold"/>
              </a:rPr>
              <a:t>DEVOPS </a:t>
            </a:r>
          </a:p>
        </p:txBody>
      </p:sp>
      <p:sp>
        <p:nvSpPr>
          <p:cNvPr name="Freeform 31" id="31"/>
          <p:cNvSpPr/>
          <p:nvPr/>
        </p:nvSpPr>
        <p:spPr>
          <a:xfrm flipH="false" flipV="false" rot="1184083">
            <a:off x="-2126803" y="-1095226"/>
            <a:ext cx="5755537" cy="6731622"/>
          </a:xfrm>
          <a:custGeom>
            <a:avLst/>
            <a:gdLst/>
            <a:ahLst/>
            <a:cxnLst/>
            <a:rect r="r" b="b" t="t" l="l"/>
            <a:pathLst>
              <a:path h="6731622" w="5755537">
                <a:moveTo>
                  <a:pt x="0" y="0"/>
                </a:moveTo>
                <a:lnTo>
                  <a:pt x="5755537" y="0"/>
                </a:lnTo>
                <a:lnTo>
                  <a:pt x="5755537" y="6731622"/>
                </a:lnTo>
                <a:lnTo>
                  <a:pt x="0" y="6731622"/>
                </a:lnTo>
                <a:lnTo>
                  <a:pt x="0" y="0"/>
                </a:lnTo>
                <a:close/>
              </a:path>
            </a:pathLst>
          </a:custGeom>
          <a:blipFill>
            <a:blip r:embed="rId4">
              <a:alphaModFix amt="19999"/>
            </a:blip>
            <a:stretch>
              <a:fillRect l="0" t="0" r="0" b="0"/>
            </a:stretch>
          </a:blipFill>
        </p:spPr>
      </p:sp>
      <p:sp>
        <p:nvSpPr>
          <p:cNvPr name="Freeform 32" id="32"/>
          <p:cNvSpPr/>
          <p:nvPr/>
        </p:nvSpPr>
        <p:spPr>
          <a:xfrm flipH="false" flipV="false" rot="0">
            <a:off x="14323435" y="432132"/>
            <a:ext cx="3851270" cy="1501486"/>
          </a:xfrm>
          <a:custGeom>
            <a:avLst/>
            <a:gdLst/>
            <a:ahLst/>
            <a:cxnLst/>
            <a:rect r="r" b="b" t="t" l="l"/>
            <a:pathLst>
              <a:path h="1501486" w="3851270">
                <a:moveTo>
                  <a:pt x="0" y="0"/>
                </a:moveTo>
                <a:lnTo>
                  <a:pt x="3851270" y="0"/>
                </a:lnTo>
                <a:lnTo>
                  <a:pt x="3851270" y="1501486"/>
                </a:lnTo>
                <a:lnTo>
                  <a:pt x="0" y="1501486"/>
                </a:lnTo>
                <a:lnTo>
                  <a:pt x="0" y="0"/>
                </a:lnTo>
                <a:close/>
              </a:path>
            </a:pathLst>
          </a:custGeom>
          <a:blipFill>
            <a:blip r:embed="rId5"/>
            <a:stretch>
              <a:fillRect l="0" t="0" r="0" b="0"/>
            </a:stretch>
          </a:blipFill>
        </p:spPr>
      </p:sp>
      <p:sp>
        <p:nvSpPr>
          <p:cNvPr name="TextBox 33" id="33"/>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34" id="34"/>
          <p:cNvSpPr txBox="true"/>
          <p:nvPr/>
        </p:nvSpPr>
        <p:spPr>
          <a:xfrm rot="0">
            <a:off x="16249070" y="4964651"/>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sp>
        <p:nvSpPr>
          <p:cNvPr name="TextBox 35" id="35"/>
          <p:cNvSpPr txBox="true"/>
          <p:nvPr/>
        </p:nvSpPr>
        <p:spPr>
          <a:xfrm rot="0">
            <a:off x="16381397" y="6429483"/>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sp>
        <p:nvSpPr>
          <p:cNvPr name="TextBox 36" id="36"/>
          <p:cNvSpPr txBox="true"/>
          <p:nvPr/>
        </p:nvSpPr>
        <p:spPr>
          <a:xfrm rot="0">
            <a:off x="16381397" y="3603508"/>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sp>
        <p:nvSpPr>
          <p:cNvPr name="TextBox 37" id="37"/>
          <p:cNvSpPr txBox="true"/>
          <p:nvPr/>
        </p:nvSpPr>
        <p:spPr>
          <a:xfrm rot="0">
            <a:off x="5072969" y="6831465"/>
            <a:ext cx="2466661"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Start Slide</a:t>
            </a:r>
          </a:p>
        </p:txBody>
      </p:sp>
      <p:sp>
        <p:nvSpPr>
          <p:cNvPr name="TextBox 38" id="38"/>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sp>
        <p:nvSpPr>
          <p:cNvPr name="TextBox 39" id="39"/>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grpSp>
        <p:nvGrpSpPr>
          <p:cNvPr name="Group 40" id="40"/>
          <p:cNvGrpSpPr/>
          <p:nvPr/>
        </p:nvGrpSpPr>
        <p:grpSpPr>
          <a:xfrm rot="0">
            <a:off x="750965" y="8511264"/>
            <a:ext cx="3943473" cy="932338"/>
            <a:chOff x="0" y="0"/>
            <a:chExt cx="5257964" cy="1243117"/>
          </a:xfrm>
        </p:grpSpPr>
        <p:sp>
          <p:nvSpPr>
            <p:cNvPr name="TextBox 41" id="41"/>
            <p:cNvSpPr txBox="true"/>
            <p:nvPr/>
          </p:nvSpPr>
          <p:spPr>
            <a:xfrm rot="0">
              <a:off x="0" y="-95250"/>
              <a:ext cx="5257964" cy="802217"/>
            </a:xfrm>
            <a:prstGeom prst="rect">
              <a:avLst/>
            </a:prstGeom>
          </p:spPr>
          <p:txBody>
            <a:bodyPr anchor="t" rtlCol="false" tIns="0" lIns="0" bIns="0" rIns="0">
              <a:spAutoFit/>
            </a:bodyPr>
            <a:lstStyle/>
            <a:p>
              <a:pPr algn="ctr">
                <a:lnSpc>
                  <a:spcPts val="4899"/>
                </a:lnSpc>
              </a:pPr>
              <a:r>
                <a:rPr lang="en-US" sz="3499" b="true">
                  <a:solidFill>
                    <a:srgbClr val="FFFFFF"/>
                  </a:solidFill>
                  <a:latin typeface="Poppins Bold"/>
                  <a:ea typeface="Poppins Bold"/>
                  <a:cs typeface="Poppins Bold"/>
                  <a:sym typeface="Poppins Bold"/>
                </a:rPr>
                <a:t>Encadré par : </a:t>
              </a:r>
            </a:p>
          </p:txBody>
        </p:sp>
        <p:sp>
          <p:nvSpPr>
            <p:cNvPr name="TextBox 42" id="42"/>
            <p:cNvSpPr txBox="true"/>
            <p:nvPr/>
          </p:nvSpPr>
          <p:spPr>
            <a:xfrm rot="0">
              <a:off x="0" y="739775"/>
              <a:ext cx="5257964" cy="503342"/>
            </a:xfrm>
            <a:prstGeom prst="rect">
              <a:avLst/>
            </a:prstGeom>
          </p:spPr>
          <p:txBody>
            <a:bodyPr anchor="t" rtlCol="false" tIns="0" lIns="0" bIns="0" rIns="0">
              <a:spAutoFit/>
            </a:bodyPr>
            <a:lstStyle/>
            <a:p>
              <a:pPr algn="ctr">
                <a:lnSpc>
                  <a:spcPts val="3080"/>
                </a:lnSpc>
              </a:pPr>
              <a:r>
                <a:rPr lang="en-US" sz="2200">
                  <a:solidFill>
                    <a:srgbClr val="C71F82"/>
                  </a:solidFill>
                  <a:latin typeface="Poppins"/>
                  <a:ea typeface="Poppins"/>
                  <a:cs typeface="Poppins"/>
                  <a:sym typeface="Poppins"/>
                </a:rPr>
                <a:t> Pr. F. BENABBOU</a:t>
              </a:r>
            </a:p>
          </p:txBody>
        </p:sp>
      </p:grpSp>
      <p:grpSp>
        <p:nvGrpSpPr>
          <p:cNvPr name="Group 43" id="43"/>
          <p:cNvGrpSpPr/>
          <p:nvPr/>
        </p:nvGrpSpPr>
        <p:grpSpPr>
          <a:xfrm rot="0">
            <a:off x="11579620" y="8325962"/>
            <a:ext cx="4871241" cy="1302941"/>
            <a:chOff x="0" y="0"/>
            <a:chExt cx="6494987" cy="1737255"/>
          </a:xfrm>
        </p:grpSpPr>
        <p:sp>
          <p:nvSpPr>
            <p:cNvPr name="TextBox 44" id="44"/>
            <p:cNvSpPr txBox="true"/>
            <p:nvPr/>
          </p:nvSpPr>
          <p:spPr>
            <a:xfrm rot="0">
              <a:off x="143748" y="-95250"/>
              <a:ext cx="6351239" cy="802217"/>
            </a:xfrm>
            <a:prstGeom prst="rect">
              <a:avLst/>
            </a:prstGeom>
          </p:spPr>
          <p:txBody>
            <a:bodyPr anchor="t" rtlCol="false" tIns="0" lIns="0" bIns="0" rIns="0">
              <a:spAutoFit/>
            </a:bodyPr>
            <a:lstStyle/>
            <a:p>
              <a:pPr algn="ctr" marL="0" indent="0" lvl="0">
                <a:lnSpc>
                  <a:spcPts val="4899"/>
                </a:lnSpc>
                <a:spcBef>
                  <a:spcPct val="0"/>
                </a:spcBef>
              </a:pPr>
              <a:r>
                <a:rPr lang="en-US" b="true" sz="3499" strike="noStrike" u="none">
                  <a:solidFill>
                    <a:srgbClr val="FFFFFF"/>
                  </a:solidFill>
                  <a:latin typeface="Poppins Bold"/>
                  <a:ea typeface="Poppins Bold"/>
                  <a:cs typeface="Poppins Bold"/>
                  <a:sym typeface="Poppins Bold"/>
                </a:rPr>
                <a:t>Réalisé par : </a:t>
              </a:r>
            </a:p>
          </p:txBody>
        </p:sp>
        <p:sp>
          <p:nvSpPr>
            <p:cNvPr name="TextBox 45" id="45"/>
            <p:cNvSpPr txBox="true"/>
            <p:nvPr/>
          </p:nvSpPr>
          <p:spPr>
            <a:xfrm rot="0">
              <a:off x="0" y="713213"/>
              <a:ext cx="6351239" cy="1024042"/>
            </a:xfrm>
            <a:prstGeom prst="rect">
              <a:avLst/>
            </a:prstGeom>
          </p:spPr>
          <p:txBody>
            <a:bodyPr anchor="t" rtlCol="false" tIns="0" lIns="0" bIns="0" rIns="0">
              <a:spAutoFit/>
            </a:bodyPr>
            <a:lstStyle/>
            <a:p>
              <a:pPr algn="ctr" marL="0" indent="0" lvl="0">
                <a:lnSpc>
                  <a:spcPts val="3080"/>
                </a:lnSpc>
                <a:spcBef>
                  <a:spcPct val="0"/>
                </a:spcBef>
              </a:pPr>
              <a:r>
                <a:rPr lang="en-US" sz="2200" strike="noStrike" u="none">
                  <a:solidFill>
                    <a:srgbClr val="C71F82"/>
                  </a:solidFill>
                  <a:latin typeface="Poppins"/>
                  <a:ea typeface="Poppins"/>
                  <a:cs typeface="Poppins"/>
                  <a:sym typeface="Poppins"/>
                </a:rPr>
                <a:t>ASSOULI Fatima zahra</a:t>
              </a:r>
            </a:p>
            <a:p>
              <a:pPr algn="ctr" marL="0" indent="0" lvl="0">
                <a:lnSpc>
                  <a:spcPts val="3080"/>
                </a:lnSpc>
                <a:spcBef>
                  <a:spcPct val="0"/>
                </a:spcBef>
              </a:pPr>
              <a:r>
                <a:rPr lang="en-US" sz="2200" strike="noStrike" u="none">
                  <a:solidFill>
                    <a:srgbClr val="C71F82"/>
                  </a:solidFill>
                  <a:latin typeface="Poppins"/>
                  <a:ea typeface="Poppins"/>
                  <a:cs typeface="Poppins"/>
                  <a:sym typeface="Poppins"/>
                </a:rPr>
                <a:t>MAKBOUL Ouiam</a:t>
              </a:r>
            </a:p>
          </p:txBody>
        </p:sp>
      </p:grpSp>
      <p:grpSp>
        <p:nvGrpSpPr>
          <p:cNvPr name="Group 46" id="46"/>
          <p:cNvGrpSpPr/>
          <p:nvPr/>
        </p:nvGrpSpPr>
        <p:grpSpPr>
          <a:xfrm rot="0">
            <a:off x="750965" y="8216833"/>
            <a:ext cx="3845265" cy="1521199"/>
            <a:chOff x="0" y="0"/>
            <a:chExt cx="542011" cy="214421"/>
          </a:xfrm>
        </p:grpSpPr>
        <p:sp>
          <p:nvSpPr>
            <p:cNvPr name="Freeform 47" id="47"/>
            <p:cNvSpPr/>
            <p:nvPr/>
          </p:nvSpPr>
          <p:spPr>
            <a:xfrm flipH="false" flipV="false" rot="0">
              <a:off x="0" y="0"/>
              <a:ext cx="542011" cy="214421"/>
            </a:xfrm>
            <a:custGeom>
              <a:avLst/>
              <a:gdLst/>
              <a:ahLst/>
              <a:cxnLst/>
              <a:rect r="r" b="b" t="t" l="l"/>
              <a:pathLst>
                <a:path h="214421" w="542011">
                  <a:moveTo>
                    <a:pt x="107211" y="0"/>
                  </a:moveTo>
                  <a:lnTo>
                    <a:pt x="434801" y="0"/>
                  </a:lnTo>
                  <a:cubicBezTo>
                    <a:pt x="463235" y="0"/>
                    <a:pt x="490504" y="11295"/>
                    <a:pt x="510610" y="31401"/>
                  </a:cubicBezTo>
                  <a:cubicBezTo>
                    <a:pt x="530716" y="51507"/>
                    <a:pt x="542011" y="78777"/>
                    <a:pt x="542011" y="107211"/>
                  </a:cubicBezTo>
                  <a:lnTo>
                    <a:pt x="542011" y="107211"/>
                  </a:lnTo>
                  <a:cubicBezTo>
                    <a:pt x="542011" y="166422"/>
                    <a:pt x="494011" y="214421"/>
                    <a:pt x="434801" y="214421"/>
                  </a:cubicBezTo>
                  <a:lnTo>
                    <a:pt x="107211" y="214421"/>
                  </a:lnTo>
                  <a:cubicBezTo>
                    <a:pt x="48000" y="214421"/>
                    <a:pt x="0" y="166422"/>
                    <a:pt x="0" y="107211"/>
                  </a:cubicBezTo>
                  <a:lnTo>
                    <a:pt x="0" y="107211"/>
                  </a:lnTo>
                  <a:cubicBezTo>
                    <a:pt x="0" y="48000"/>
                    <a:pt x="48000" y="0"/>
                    <a:pt x="107211"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48" id="48"/>
            <p:cNvSpPr txBox="true"/>
            <p:nvPr/>
          </p:nvSpPr>
          <p:spPr>
            <a:xfrm>
              <a:off x="0" y="-38100"/>
              <a:ext cx="542011" cy="252521"/>
            </a:xfrm>
            <a:prstGeom prst="rect">
              <a:avLst/>
            </a:prstGeom>
          </p:spPr>
          <p:txBody>
            <a:bodyPr anchor="ctr" rtlCol="false" tIns="50800" lIns="50800" bIns="50800" rIns="50800"/>
            <a:lstStyle/>
            <a:p>
              <a:pPr algn="ctr">
                <a:lnSpc>
                  <a:spcPts val="2659"/>
                </a:lnSpc>
                <a:spcBef>
                  <a:spcPct val="0"/>
                </a:spcBef>
              </a:pPr>
            </a:p>
          </p:txBody>
        </p:sp>
      </p:grpSp>
      <p:grpSp>
        <p:nvGrpSpPr>
          <p:cNvPr name="Group 49" id="49"/>
          <p:cNvGrpSpPr/>
          <p:nvPr/>
        </p:nvGrpSpPr>
        <p:grpSpPr>
          <a:xfrm rot="0">
            <a:off x="12092608" y="8216833"/>
            <a:ext cx="3845265" cy="1521199"/>
            <a:chOff x="0" y="0"/>
            <a:chExt cx="542011" cy="214421"/>
          </a:xfrm>
        </p:grpSpPr>
        <p:sp>
          <p:nvSpPr>
            <p:cNvPr name="Freeform 50" id="50"/>
            <p:cNvSpPr/>
            <p:nvPr/>
          </p:nvSpPr>
          <p:spPr>
            <a:xfrm flipH="false" flipV="false" rot="0">
              <a:off x="0" y="0"/>
              <a:ext cx="542011" cy="214421"/>
            </a:xfrm>
            <a:custGeom>
              <a:avLst/>
              <a:gdLst/>
              <a:ahLst/>
              <a:cxnLst/>
              <a:rect r="r" b="b" t="t" l="l"/>
              <a:pathLst>
                <a:path h="214421" w="542011">
                  <a:moveTo>
                    <a:pt x="107211" y="0"/>
                  </a:moveTo>
                  <a:lnTo>
                    <a:pt x="434801" y="0"/>
                  </a:lnTo>
                  <a:cubicBezTo>
                    <a:pt x="463235" y="0"/>
                    <a:pt x="490504" y="11295"/>
                    <a:pt x="510610" y="31401"/>
                  </a:cubicBezTo>
                  <a:cubicBezTo>
                    <a:pt x="530716" y="51507"/>
                    <a:pt x="542011" y="78777"/>
                    <a:pt x="542011" y="107211"/>
                  </a:cubicBezTo>
                  <a:lnTo>
                    <a:pt x="542011" y="107211"/>
                  </a:lnTo>
                  <a:cubicBezTo>
                    <a:pt x="542011" y="166422"/>
                    <a:pt x="494011" y="214421"/>
                    <a:pt x="434801" y="214421"/>
                  </a:cubicBezTo>
                  <a:lnTo>
                    <a:pt x="107211" y="214421"/>
                  </a:lnTo>
                  <a:cubicBezTo>
                    <a:pt x="48000" y="214421"/>
                    <a:pt x="0" y="166422"/>
                    <a:pt x="0" y="107211"/>
                  </a:cubicBezTo>
                  <a:lnTo>
                    <a:pt x="0" y="107211"/>
                  </a:lnTo>
                  <a:cubicBezTo>
                    <a:pt x="0" y="48000"/>
                    <a:pt x="48000" y="0"/>
                    <a:pt x="107211"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51" id="51"/>
            <p:cNvSpPr txBox="true"/>
            <p:nvPr/>
          </p:nvSpPr>
          <p:spPr>
            <a:xfrm>
              <a:off x="0" y="-38100"/>
              <a:ext cx="542011" cy="252521"/>
            </a:xfrm>
            <a:prstGeom prst="rect">
              <a:avLst/>
            </a:prstGeom>
          </p:spPr>
          <p:txBody>
            <a:bodyPr anchor="ctr" rtlCol="false" tIns="50800" lIns="50800" bIns="50800" rIns="50800"/>
            <a:lstStyle/>
            <a:p>
              <a:pPr algn="ctr">
                <a:lnSpc>
                  <a:spcPts val="2659"/>
                </a:lnSpc>
                <a:spcBef>
                  <a:spcPct val="0"/>
                </a:spcBef>
              </a:pPr>
            </a:p>
          </p:txBody>
        </p:sp>
      </p:grpSp>
      <p:grpSp>
        <p:nvGrpSpPr>
          <p:cNvPr name="Group 52" id="52"/>
          <p:cNvGrpSpPr/>
          <p:nvPr/>
        </p:nvGrpSpPr>
        <p:grpSpPr>
          <a:xfrm rot="0">
            <a:off x="5887099" y="8781859"/>
            <a:ext cx="5012849" cy="956174"/>
            <a:chOff x="0" y="0"/>
            <a:chExt cx="6683798" cy="1274898"/>
          </a:xfrm>
        </p:grpSpPr>
        <p:sp>
          <p:nvSpPr>
            <p:cNvPr name="TextBox 53" id="53"/>
            <p:cNvSpPr txBox="true"/>
            <p:nvPr/>
          </p:nvSpPr>
          <p:spPr>
            <a:xfrm rot="0">
              <a:off x="147927" y="-66675"/>
              <a:ext cx="6535871" cy="589420"/>
            </a:xfrm>
            <a:prstGeom prst="rect">
              <a:avLst/>
            </a:prstGeom>
          </p:spPr>
          <p:txBody>
            <a:bodyPr anchor="t" rtlCol="false" tIns="0" lIns="0" bIns="0" rIns="0">
              <a:spAutoFit/>
            </a:bodyPr>
            <a:lstStyle/>
            <a:p>
              <a:pPr algn="ctr" marL="0" indent="0" lvl="0">
                <a:lnSpc>
                  <a:spcPts val="3623"/>
                </a:lnSpc>
                <a:spcBef>
                  <a:spcPct val="0"/>
                </a:spcBef>
              </a:pPr>
              <a:r>
                <a:rPr lang="en-US" b="true" sz="2587" strike="noStrike" u="none">
                  <a:solidFill>
                    <a:srgbClr val="FFFFFF"/>
                  </a:solidFill>
                  <a:latin typeface="Poppins Bold"/>
                  <a:ea typeface="Poppins Bold"/>
                  <a:cs typeface="Poppins Bold"/>
                  <a:sym typeface="Poppins Bold"/>
                </a:rPr>
                <a:t>Année universitaire</a:t>
              </a:r>
            </a:p>
          </p:txBody>
        </p:sp>
        <p:sp>
          <p:nvSpPr>
            <p:cNvPr name="TextBox 54" id="54"/>
            <p:cNvSpPr txBox="true"/>
            <p:nvPr/>
          </p:nvSpPr>
          <p:spPr>
            <a:xfrm rot="0">
              <a:off x="0" y="531521"/>
              <a:ext cx="6535871" cy="368023"/>
            </a:xfrm>
            <a:prstGeom prst="rect">
              <a:avLst/>
            </a:prstGeom>
          </p:spPr>
          <p:txBody>
            <a:bodyPr anchor="t" rtlCol="false" tIns="0" lIns="0" bIns="0" rIns="0">
              <a:spAutoFit/>
            </a:bodyPr>
            <a:lstStyle/>
            <a:p>
              <a:pPr algn="ctr" marL="0" indent="0" lvl="0">
                <a:lnSpc>
                  <a:spcPts val="2277"/>
                </a:lnSpc>
                <a:spcBef>
                  <a:spcPct val="0"/>
                </a:spcBef>
              </a:pPr>
              <a:r>
                <a:rPr lang="en-US" sz="1626" strike="noStrike" u="none">
                  <a:solidFill>
                    <a:srgbClr val="C71F82"/>
                  </a:solidFill>
                  <a:latin typeface="Poppins"/>
                  <a:ea typeface="Poppins"/>
                  <a:cs typeface="Poppins"/>
                  <a:sym typeface="Poppins"/>
                </a:rPr>
                <a:t>2025/2026</a:t>
              </a:r>
            </a:p>
          </p:txBody>
        </p:sp>
        <p:sp>
          <p:nvSpPr>
            <p:cNvPr name="TextBox 55" id="55"/>
            <p:cNvSpPr txBox="true"/>
            <p:nvPr/>
          </p:nvSpPr>
          <p:spPr>
            <a:xfrm rot="0">
              <a:off x="147927" y="906875"/>
              <a:ext cx="6535871" cy="368023"/>
            </a:xfrm>
            <a:prstGeom prst="rect">
              <a:avLst/>
            </a:prstGeom>
          </p:spPr>
          <p:txBody>
            <a:bodyPr anchor="t" rtlCol="false" tIns="0" lIns="0" bIns="0" rIns="0">
              <a:spAutoFit/>
            </a:bodyPr>
            <a:lstStyle/>
            <a:p>
              <a:pPr algn="ctr" marL="0" indent="0" lvl="0">
                <a:lnSpc>
                  <a:spcPts val="2277"/>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184083">
            <a:off x="9690483" y="3011312"/>
            <a:ext cx="5755537" cy="6731622"/>
          </a:xfrm>
          <a:custGeom>
            <a:avLst/>
            <a:gdLst/>
            <a:ahLst/>
            <a:cxnLst/>
            <a:rect r="r" b="b" t="t" l="l"/>
            <a:pathLst>
              <a:path h="6731622" w="5755537">
                <a:moveTo>
                  <a:pt x="0" y="0"/>
                </a:moveTo>
                <a:lnTo>
                  <a:pt x="5755537" y="0"/>
                </a:lnTo>
                <a:lnTo>
                  <a:pt x="5755537" y="6731622"/>
                </a:lnTo>
                <a:lnTo>
                  <a:pt x="0" y="6731622"/>
                </a:lnTo>
                <a:lnTo>
                  <a:pt x="0" y="0"/>
                </a:lnTo>
                <a:close/>
              </a:path>
            </a:pathLst>
          </a:custGeom>
          <a:blipFill>
            <a:blip r:embed="rId2">
              <a:alphaModFix amt="19999"/>
            </a:blip>
            <a:stretch>
              <a:fillRect l="0" t="0" r="0" b="0"/>
            </a:stretch>
          </a:blipFill>
        </p:spPr>
      </p:sp>
      <p:sp>
        <p:nvSpPr>
          <p:cNvPr name="TextBox 3" id="3"/>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4" id="4"/>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sp>
        <p:nvSpPr>
          <p:cNvPr name="TextBox 5" id="5"/>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grpSp>
        <p:nvGrpSpPr>
          <p:cNvPr name="Group 6" id="6"/>
          <p:cNvGrpSpPr/>
          <p:nvPr/>
        </p:nvGrpSpPr>
        <p:grpSpPr>
          <a:xfrm rot="0">
            <a:off x="8334438" y="886061"/>
            <a:ext cx="1704988" cy="593627"/>
            <a:chOff x="0" y="0"/>
            <a:chExt cx="240327" cy="83675"/>
          </a:xfrm>
        </p:grpSpPr>
        <p:sp>
          <p:nvSpPr>
            <p:cNvPr name="Freeform 7" id="7"/>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8" id="8"/>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707339" y="2967571"/>
            <a:ext cx="3060168" cy="3060168"/>
            <a:chOff x="0" y="0"/>
            <a:chExt cx="1652976" cy="1652976"/>
          </a:xfrm>
        </p:grpSpPr>
        <p:sp>
          <p:nvSpPr>
            <p:cNvPr name="Freeform 10" id="10"/>
            <p:cNvSpPr/>
            <p:nvPr/>
          </p:nvSpPr>
          <p:spPr>
            <a:xfrm flipH="false" flipV="false" rot="0">
              <a:off x="0" y="0"/>
              <a:ext cx="1652976" cy="1652976"/>
            </a:xfrm>
            <a:custGeom>
              <a:avLst/>
              <a:gdLst/>
              <a:ahLst/>
              <a:cxnLst/>
              <a:rect r="r" b="b" t="t" l="l"/>
              <a:pathLst>
                <a:path h="1652976" w="1652976">
                  <a:moveTo>
                    <a:pt x="70759" y="0"/>
                  </a:moveTo>
                  <a:lnTo>
                    <a:pt x="1582218" y="0"/>
                  </a:lnTo>
                  <a:cubicBezTo>
                    <a:pt x="1621296" y="0"/>
                    <a:pt x="1652976" y="31680"/>
                    <a:pt x="1652976" y="70759"/>
                  </a:cubicBezTo>
                  <a:lnTo>
                    <a:pt x="1652976" y="1582218"/>
                  </a:lnTo>
                  <a:cubicBezTo>
                    <a:pt x="1652976" y="1621296"/>
                    <a:pt x="1621296" y="1652976"/>
                    <a:pt x="1582218" y="1652976"/>
                  </a:cubicBezTo>
                  <a:lnTo>
                    <a:pt x="70759" y="1652976"/>
                  </a:lnTo>
                  <a:cubicBezTo>
                    <a:pt x="31680" y="1652976"/>
                    <a:pt x="0" y="1621296"/>
                    <a:pt x="0" y="1582218"/>
                  </a:cubicBezTo>
                  <a:lnTo>
                    <a:pt x="0" y="70759"/>
                  </a:lnTo>
                  <a:cubicBezTo>
                    <a:pt x="0" y="31680"/>
                    <a:pt x="31680" y="0"/>
                    <a:pt x="70759"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1" id="11"/>
            <p:cNvSpPr txBox="true"/>
            <p:nvPr/>
          </p:nvSpPr>
          <p:spPr>
            <a:xfrm>
              <a:off x="0" y="-38100"/>
              <a:ext cx="1652976" cy="1691076"/>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9152058" y="2520315"/>
            <a:ext cx="2843232" cy="2623185"/>
            <a:chOff x="0" y="0"/>
            <a:chExt cx="440491" cy="406400"/>
          </a:xfrm>
        </p:grpSpPr>
        <p:sp>
          <p:nvSpPr>
            <p:cNvPr name="Freeform 13" id="13"/>
            <p:cNvSpPr/>
            <p:nvPr/>
          </p:nvSpPr>
          <p:spPr>
            <a:xfrm flipH="false" flipV="false" rot="0">
              <a:off x="0" y="0"/>
              <a:ext cx="440491" cy="406400"/>
            </a:xfrm>
            <a:custGeom>
              <a:avLst/>
              <a:gdLst/>
              <a:ahLst/>
              <a:cxnLst/>
              <a:rect r="r" b="b" t="t" l="l"/>
              <a:pathLst>
                <a:path h="406400" w="440491">
                  <a:moveTo>
                    <a:pt x="62627" y="0"/>
                  </a:moveTo>
                  <a:lnTo>
                    <a:pt x="377864" y="0"/>
                  </a:lnTo>
                  <a:cubicBezTo>
                    <a:pt x="394474" y="0"/>
                    <a:pt x="410403" y="6598"/>
                    <a:pt x="422148" y="18343"/>
                  </a:cubicBezTo>
                  <a:cubicBezTo>
                    <a:pt x="433893" y="30088"/>
                    <a:pt x="440491" y="46018"/>
                    <a:pt x="440491" y="62627"/>
                  </a:cubicBezTo>
                  <a:lnTo>
                    <a:pt x="440491" y="343773"/>
                  </a:lnTo>
                  <a:cubicBezTo>
                    <a:pt x="440491" y="378361"/>
                    <a:pt x="412452" y="406400"/>
                    <a:pt x="377864" y="406400"/>
                  </a:cubicBezTo>
                  <a:lnTo>
                    <a:pt x="62627" y="406400"/>
                  </a:lnTo>
                  <a:cubicBezTo>
                    <a:pt x="28039" y="406400"/>
                    <a:pt x="0" y="378361"/>
                    <a:pt x="0" y="343773"/>
                  </a:cubicBezTo>
                  <a:lnTo>
                    <a:pt x="0" y="62627"/>
                  </a:lnTo>
                  <a:cubicBezTo>
                    <a:pt x="0" y="28039"/>
                    <a:pt x="28039" y="0"/>
                    <a:pt x="62627" y="0"/>
                  </a:cubicBezTo>
                  <a:close/>
                </a:path>
              </a:pathLst>
            </a:custGeom>
            <a:blipFill>
              <a:blip r:embed="rId3"/>
              <a:stretch>
                <a:fillRect l="-18468" t="0" r="-18468" b="0"/>
              </a:stretch>
            </a:blipFill>
          </p:spPr>
        </p:sp>
      </p:grpSp>
      <p:grpSp>
        <p:nvGrpSpPr>
          <p:cNvPr name="Group 14" id="14"/>
          <p:cNvGrpSpPr/>
          <p:nvPr/>
        </p:nvGrpSpPr>
        <p:grpSpPr>
          <a:xfrm rot="0">
            <a:off x="12479556" y="2520315"/>
            <a:ext cx="2843232" cy="2623185"/>
            <a:chOff x="0" y="0"/>
            <a:chExt cx="440491" cy="406400"/>
          </a:xfrm>
        </p:grpSpPr>
        <p:sp>
          <p:nvSpPr>
            <p:cNvPr name="Freeform 15" id="15"/>
            <p:cNvSpPr/>
            <p:nvPr/>
          </p:nvSpPr>
          <p:spPr>
            <a:xfrm flipH="false" flipV="false" rot="0">
              <a:off x="0" y="0"/>
              <a:ext cx="440491" cy="406400"/>
            </a:xfrm>
            <a:custGeom>
              <a:avLst/>
              <a:gdLst/>
              <a:ahLst/>
              <a:cxnLst/>
              <a:rect r="r" b="b" t="t" l="l"/>
              <a:pathLst>
                <a:path h="406400" w="440491">
                  <a:moveTo>
                    <a:pt x="62627" y="0"/>
                  </a:moveTo>
                  <a:lnTo>
                    <a:pt x="377864" y="0"/>
                  </a:lnTo>
                  <a:cubicBezTo>
                    <a:pt x="394474" y="0"/>
                    <a:pt x="410403" y="6598"/>
                    <a:pt x="422148" y="18343"/>
                  </a:cubicBezTo>
                  <a:cubicBezTo>
                    <a:pt x="433893" y="30088"/>
                    <a:pt x="440491" y="46018"/>
                    <a:pt x="440491" y="62627"/>
                  </a:cubicBezTo>
                  <a:lnTo>
                    <a:pt x="440491" y="343773"/>
                  </a:lnTo>
                  <a:cubicBezTo>
                    <a:pt x="440491" y="378361"/>
                    <a:pt x="412452" y="406400"/>
                    <a:pt x="377864" y="406400"/>
                  </a:cubicBezTo>
                  <a:lnTo>
                    <a:pt x="62627" y="406400"/>
                  </a:lnTo>
                  <a:cubicBezTo>
                    <a:pt x="28039" y="406400"/>
                    <a:pt x="0" y="378361"/>
                    <a:pt x="0" y="343773"/>
                  </a:cubicBezTo>
                  <a:lnTo>
                    <a:pt x="0" y="62627"/>
                  </a:lnTo>
                  <a:cubicBezTo>
                    <a:pt x="0" y="28039"/>
                    <a:pt x="28039" y="0"/>
                    <a:pt x="62627" y="0"/>
                  </a:cubicBezTo>
                  <a:close/>
                </a:path>
              </a:pathLst>
            </a:custGeom>
            <a:blipFill>
              <a:blip r:embed="rId4"/>
              <a:stretch>
                <a:fillRect l="-26406" t="0" r="-26406" b="0"/>
              </a:stretch>
            </a:blipFill>
          </p:spPr>
        </p:sp>
      </p:grpSp>
      <p:grpSp>
        <p:nvGrpSpPr>
          <p:cNvPr name="Group 16" id="16"/>
          <p:cNvGrpSpPr/>
          <p:nvPr/>
        </p:nvGrpSpPr>
        <p:grpSpPr>
          <a:xfrm rot="0">
            <a:off x="7239452" y="8681504"/>
            <a:ext cx="2967069" cy="807119"/>
            <a:chOff x="0" y="0"/>
            <a:chExt cx="418225" cy="113768"/>
          </a:xfrm>
        </p:grpSpPr>
        <p:sp>
          <p:nvSpPr>
            <p:cNvPr name="Freeform 17" id="17"/>
            <p:cNvSpPr/>
            <p:nvPr/>
          </p:nvSpPr>
          <p:spPr>
            <a:xfrm flipH="false" flipV="false" rot="0">
              <a:off x="0" y="0"/>
              <a:ext cx="418225" cy="113768"/>
            </a:xfrm>
            <a:custGeom>
              <a:avLst/>
              <a:gdLst/>
              <a:ahLst/>
              <a:cxnLst/>
              <a:rect r="r" b="b" t="t" l="l"/>
              <a:pathLst>
                <a:path h="113768" w="418225">
                  <a:moveTo>
                    <a:pt x="56884" y="0"/>
                  </a:moveTo>
                  <a:lnTo>
                    <a:pt x="361341" y="0"/>
                  </a:lnTo>
                  <a:cubicBezTo>
                    <a:pt x="376427" y="0"/>
                    <a:pt x="390896" y="5993"/>
                    <a:pt x="401564" y="16661"/>
                  </a:cubicBezTo>
                  <a:cubicBezTo>
                    <a:pt x="412232" y="27329"/>
                    <a:pt x="418225" y="41797"/>
                    <a:pt x="418225" y="56884"/>
                  </a:cubicBezTo>
                  <a:lnTo>
                    <a:pt x="418225" y="56884"/>
                  </a:lnTo>
                  <a:cubicBezTo>
                    <a:pt x="418225" y="88300"/>
                    <a:pt x="392757" y="113768"/>
                    <a:pt x="361341" y="113768"/>
                  </a:cubicBezTo>
                  <a:lnTo>
                    <a:pt x="56884" y="113768"/>
                  </a:lnTo>
                  <a:cubicBezTo>
                    <a:pt x="25468" y="113768"/>
                    <a:pt x="0" y="88300"/>
                    <a:pt x="0" y="56884"/>
                  </a:cubicBezTo>
                  <a:lnTo>
                    <a:pt x="0" y="56884"/>
                  </a:lnTo>
                  <a:cubicBezTo>
                    <a:pt x="0" y="25468"/>
                    <a:pt x="25468" y="0"/>
                    <a:pt x="56884"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8" id="18"/>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7489656" y="8810427"/>
            <a:ext cx="2466661"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Learn More</a:t>
            </a:r>
          </a:p>
        </p:txBody>
      </p:sp>
      <p:grpSp>
        <p:nvGrpSpPr>
          <p:cNvPr name="Group 20" id="20"/>
          <p:cNvGrpSpPr/>
          <p:nvPr/>
        </p:nvGrpSpPr>
        <p:grpSpPr>
          <a:xfrm rot="0">
            <a:off x="16249070" y="4638385"/>
            <a:ext cx="1010230" cy="101023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2" id="22"/>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23" id="23"/>
          <p:cNvSpPr txBox="true"/>
          <p:nvPr/>
        </p:nvSpPr>
        <p:spPr>
          <a:xfrm rot="0">
            <a:off x="16249070" y="4964651"/>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grpSp>
        <p:nvGrpSpPr>
          <p:cNvPr name="Group 24" id="24"/>
          <p:cNvGrpSpPr/>
          <p:nvPr/>
        </p:nvGrpSpPr>
        <p:grpSpPr>
          <a:xfrm rot="0">
            <a:off x="16381397" y="6183699"/>
            <a:ext cx="745577" cy="74557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6" id="26"/>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27" id="27"/>
          <p:cNvSpPr txBox="true"/>
          <p:nvPr/>
        </p:nvSpPr>
        <p:spPr>
          <a:xfrm rot="0">
            <a:off x="16381397" y="6429483"/>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grpSp>
        <p:nvGrpSpPr>
          <p:cNvPr name="Group 28" id="28"/>
          <p:cNvGrpSpPr/>
          <p:nvPr/>
        </p:nvGrpSpPr>
        <p:grpSpPr>
          <a:xfrm rot="0">
            <a:off x="16381397" y="3357724"/>
            <a:ext cx="745577" cy="74557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30" id="30"/>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31" id="31"/>
          <p:cNvSpPr txBox="true"/>
          <p:nvPr/>
        </p:nvSpPr>
        <p:spPr>
          <a:xfrm rot="0">
            <a:off x="16381397" y="3603508"/>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sp>
        <p:nvSpPr>
          <p:cNvPr name="TextBox 32" id="32"/>
          <p:cNvSpPr txBox="true"/>
          <p:nvPr/>
        </p:nvSpPr>
        <p:spPr>
          <a:xfrm rot="0">
            <a:off x="700497" y="2789354"/>
            <a:ext cx="8486418" cy="6446522"/>
          </a:xfrm>
          <a:prstGeom prst="rect">
            <a:avLst/>
          </a:prstGeom>
        </p:spPr>
        <p:txBody>
          <a:bodyPr anchor="t" rtlCol="false" tIns="0" lIns="0" bIns="0" rIns="0">
            <a:spAutoFit/>
          </a:bodyPr>
          <a:lstStyle/>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Introduction au projet </a:t>
            </a:r>
            <a:r>
              <a:rPr lang="en-US" b="true" sz="2699">
                <a:solidFill>
                  <a:srgbClr val="FFFFFF"/>
                </a:solidFill>
                <a:latin typeface="Poppins Bold"/>
                <a:ea typeface="Poppins Bold"/>
                <a:cs typeface="Poppins Bold"/>
                <a:sym typeface="Poppins Bold"/>
              </a:rPr>
              <a:t>DevOps</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Contexte et problématique</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Objectifs du projet</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Présentation de l’application </a:t>
            </a:r>
            <a:r>
              <a:rPr lang="en-US" b="true" sz="2699">
                <a:solidFill>
                  <a:srgbClr val="FFFFFF"/>
                </a:solidFill>
                <a:latin typeface="Poppins Bold"/>
                <a:ea typeface="Poppins Bold"/>
                <a:cs typeface="Poppins Bold"/>
                <a:sym typeface="Poppins Bold"/>
              </a:rPr>
              <a:t>(Swap)</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Architecture globale du système</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Conteneurisation avec </a:t>
            </a:r>
            <a:r>
              <a:rPr lang="en-US" b="true" sz="2699">
                <a:solidFill>
                  <a:srgbClr val="FFFFFF"/>
                </a:solidFill>
                <a:latin typeface="Poppins Bold"/>
                <a:ea typeface="Poppins Bold"/>
                <a:cs typeface="Poppins Bold"/>
                <a:sym typeface="Poppins Bold"/>
              </a:rPr>
              <a:t>Docker</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Infrastructure Cloud </a:t>
            </a:r>
            <a:r>
              <a:rPr lang="en-US" b="true" sz="2699">
                <a:solidFill>
                  <a:srgbClr val="FFFFFF"/>
                </a:solidFill>
                <a:latin typeface="Poppins Bold"/>
                <a:ea typeface="Poppins Bold"/>
                <a:cs typeface="Poppins Bold"/>
                <a:sym typeface="Poppins Bold"/>
              </a:rPr>
              <a:t>(AWS)</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Infrastructure as Code </a:t>
            </a:r>
            <a:r>
              <a:rPr lang="en-US" b="true" sz="2699">
                <a:solidFill>
                  <a:srgbClr val="FFFFFF"/>
                </a:solidFill>
                <a:latin typeface="Poppins Bold"/>
                <a:ea typeface="Poppins Bold"/>
                <a:cs typeface="Poppins Bold"/>
                <a:sym typeface="Poppins Bold"/>
              </a:rPr>
              <a:t>(Terraform &amp; Ansible)</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Orchestration avec </a:t>
            </a:r>
            <a:r>
              <a:rPr lang="en-US" b="true" sz="2699">
                <a:solidFill>
                  <a:srgbClr val="FFFFFF"/>
                </a:solidFill>
                <a:latin typeface="Poppins Bold"/>
                <a:ea typeface="Poppins Bold"/>
                <a:cs typeface="Poppins Bold"/>
                <a:sym typeface="Poppins Bold"/>
              </a:rPr>
              <a:t>Kubernetes</a:t>
            </a:r>
          </a:p>
          <a:p>
            <a:pPr algn="l" marL="582925" indent="-291463" lvl="1">
              <a:lnSpc>
                <a:spcPts val="5129"/>
              </a:lnSpc>
              <a:buFont typeface="Arial"/>
              <a:buChar char="•"/>
            </a:pPr>
            <a:r>
              <a:rPr lang="en-US" b="true" sz="2699">
                <a:solidFill>
                  <a:srgbClr val="3147B9"/>
                </a:solidFill>
                <a:latin typeface="Poppins Bold"/>
                <a:ea typeface="Poppins Bold"/>
                <a:cs typeface="Poppins Bold"/>
                <a:sym typeface="Poppins Bold"/>
              </a:rPr>
              <a:t>Pipeline </a:t>
            </a:r>
            <a:r>
              <a:rPr lang="en-US" b="true" sz="2699">
                <a:solidFill>
                  <a:srgbClr val="FFFFFF"/>
                </a:solidFill>
                <a:latin typeface="Poppins Bold"/>
                <a:ea typeface="Poppins Bold"/>
                <a:cs typeface="Poppins Bold"/>
                <a:sym typeface="Poppins Bold"/>
              </a:rPr>
              <a:t>CI/CD </a:t>
            </a:r>
            <a:r>
              <a:rPr lang="en-US" b="true" sz="2699">
                <a:solidFill>
                  <a:srgbClr val="3147B9"/>
                </a:solidFill>
                <a:latin typeface="Poppins Bold"/>
                <a:ea typeface="Poppins Bold"/>
                <a:cs typeface="Poppins Bold"/>
                <a:sym typeface="Poppins Bold"/>
              </a:rPr>
              <a:t>et résultats</a:t>
            </a:r>
          </a:p>
        </p:txBody>
      </p:sp>
      <p:sp>
        <p:nvSpPr>
          <p:cNvPr name="TextBox 33" id="33"/>
          <p:cNvSpPr txBox="true"/>
          <p:nvPr/>
        </p:nvSpPr>
        <p:spPr>
          <a:xfrm rot="0">
            <a:off x="1099583" y="1458128"/>
            <a:ext cx="7119484" cy="1127132"/>
          </a:xfrm>
          <a:prstGeom prst="rect">
            <a:avLst/>
          </a:prstGeom>
        </p:spPr>
        <p:txBody>
          <a:bodyPr anchor="t" rtlCol="false" tIns="0" lIns="0" bIns="0" rIns="0">
            <a:spAutoFit/>
          </a:bodyPr>
          <a:lstStyle/>
          <a:p>
            <a:pPr algn="l">
              <a:lnSpc>
                <a:spcPts val="9499"/>
              </a:lnSpc>
            </a:pPr>
            <a:r>
              <a:rPr lang="en-US" b="true" sz="4999">
                <a:solidFill>
                  <a:srgbClr val="FFFFFF"/>
                </a:solidFill>
                <a:latin typeface="Poppins Bold"/>
                <a:ea typeface="Poppins Bold"/>
                <a:cs typeface="Poppins Bold"/>
                <a:sym typeface="Poppins Bold"/>
              </a:rPr>
              <a:t>Plan du presentation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1184083">
            <a:off x="6393966" y="2253725"/>
            <a:ext cx="5755537" cy="6731622"/>
          </a:xfrm>
          <a:custGeom>
            <a:avLst/>
            <a:gdLst/>
            <a:ahLst/>
            <a:cxnLst/>
            <a:rect r="r" b="b" t="t" l="l"/>
            <a:pathLst>
              <a:path h="6731622" w="5755537">
                <a:moveTo>
                  <a:pt x="5755537" y="6731622"/>
                </a:moveTo>
                <a:lnTo>
                  <a:pt x="0" y="6731622"/>
                </a:lnTo>
                <a:lnTo>
                  <a:pt x="0" y="0"/>
                </a:lnTo>
                <a:lnTo>
                  <a:pt x="5755537" y="0"/>
                </a:lnTo>
                <a:lnTo>
                  <a:pt x="5755537" y="6731622"/>
                </a:lnTo>
                <a:close/>
              </a:path>
            </a:pathLst>
          </a:custGeom>
          <a:blipFill>
            <a:blip r:embed="rId2">
              <a:alphaModFix amt="19999"/>
            </a:blip>
            <a:stretch>
              <a:fillRect l="0" t="0" r="0" b="0"/>
            </a:stretch>
          </a:blipFill>
        </p:spPr>
      </p:sp>
      <p:sp>
        <p:nvSpPr>
          <p:cNvPr name="TextBox 3" id="3"/>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grpSp>
        <p:nvGrpSpPr>
          <p:cNvPr name="Group 4" id="4"/>
          <p:cNvGrpSpPr/>
          <p:nvPr/>
        </p:nvGrpSpPr>
        <p:grpSpPr>
          <a:xfrm rot="0">
            <a:off x="8334438" y="886061"/>
            <a:ext cx="1704988" cy="593627"/>
            <a:chOff x="0" y="0"/>
            <a:chExt cx="240327" cy="83675"/>
          </a:xfrm>
        </p:grpSpPr>
        <p:sp>
          <p:nvSpPr>
            <p:cNvPr name="Freeform 5" id="5"/>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6" id="6"/>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650877" y="3521223"/>
            <a:ext cx="6378824" cy="2848756"/>
            <a:chOff x="0" y="0"/>
            <a:chExt cx="1100078" cy="491290"/>
          </a:xfrm>
        </p:grpSpPr>
        <p:sp>
          <p:nvSpPr>
            <p:cNvPr name="Freeform 8" id="8"/>
            <p:cNvSpPr/>
            <p:nvPr/>
          </p:nvSpPr>
          <p:spPr>
            <a:xfrm flipH="false" flipV="false" rot="0">
              <a:off x="0" y="0"/>
              <a:ext cx="1100078" cy="491290"/>
            </a:xfrm>
            <a:custGeom>
              <a:avLst/>
              <a:gdLst/>
              <a:ahLst/>
              <a:cxnLst/>
              <a:rect r="r" b="b" t="t" l="l"/>
              <a:pathLst>
                <a:path h="491290" w="1100078">
                  <a:moveTo>
                    <a:pt x="27915" y="0"/>
                  </a:moveTo>
                  <a:lnTo>
                    <a:pt x="1072163" y="0"/>
                  </a:lnTo>
                  <a:cubicBezTo>
                    <a:pt x="1087580" y="0"/>
                    <a:pt x="1100078" y="12498"/>
                    <a:pt x="1100078" y="27915"/>
                  </a:cubicBezTo>
                  <a:lnTo>
                    <a:pt x="1100078" y="463375"/>
                  </a:lnTo>
                  <a:cubicBezTo>
                    <a:pt x="1100078" y="478792"/>
                    <a:pt x="1087580" y="491290"/>
                    <a:pt x="1072163" y="491290"/>
                  </a:cubicBezTo>
                  <a:lnTo>
                    <a:pt x="27915" y="491290"/>
                  </a:lnTo>
                  <a:cubicBezTo>
                    <a:pt x="12498" y="491290"/>
                    <a:pt x="0" y="478792"/>
                    <a:pt x="0" y="463375"/>
                  </a:cubicBezTo>
                  <a:lnTo>
                    <a:pt x="0" y="27915"/>
                  </a:lnTo>
                  <a:cubicBezTo>
                    <a:pt x="0" y="12498"/>
                    <a:pt x="12498" y="0"/>
                    <a:pt x="27915" y="0"/>
                  </a:cubicBezTo>
                  <a:close/>
                </a:path>
              </a:pathLst>
            </a:custGeom>
            <a:blipFill>
              <a:blip r:embed="rId3"/>
              <a:stretch>
                <a:fillRect l="0" t="-12696" r="0" b="-12696"/>
              </a:stretch>
            </a:blipFill>
          </p:spPr>
        </p:sp>
      </p:grpSp>
      <p:grpSp>
        <p:nvGrpSpPr>
          <p:cNvPr name="Group 9" id="9"/>
          <p:cNvGrpSpPr/>
          <p:nvPr/>
        </p:nvGrpSpPr>
        <p:grpSpPr>
          <a:xfrm rot="0">
            <a:off x="9515503" y="3403083"/>
            <a:ext cx="6733567" cy="3085037"/>
            <a:chOff x="0" y="0"/>
            <a:chExt cx="4048785" cy="1854983"/>
          </a:xfrm>
        </p:grpSpPr>
        <p:sp>
          <p:nvSpPr>
            <p:cNvPr name="Freeform 10" id="10"/>
            <p:cNvSpPr/>
            <p:nvPr/>
          </p:nvSpPr>
          <p:spPr>
            <a:xfrm flipH="false" flipV="false" rot="0">
              <a:off x="0" y="0"/>
              <a:ext cx="4048785" cy="1854983"/>
            </a:xfrm>
            <a:custGeom>
              <a:avLst/>
              <a:gdLst/>
              <a:ahLst/>
              <a:cxnLst/>
              <a:rect r="r" b="b" t="t" l="l"/>
              <a:pathLst>
                <a:path h="1854983" w="4048785">
                  <a:moveTo>
                    <a:pt x="32157" y="0"/>
                  </a:moveTo>
                  <a:lnTo>
                    <a:pt x="4016628" y="0"/>
                  </a:lnTo>
                  <a:cubicBezTo>
                    <a:pt x="4034388" y="0"/>
                    <a:pt x="4048785" y="14397"/>
                    <a:pt x="4048785" y="32157"/>
                  </a:cubicBezTo>
                  <a:lnTo>
                    <a:pt x="4048785" y="1822825"/>
                  </a:lnTo>
                  <a:cubicBezTo>
                    <a:pt x="4048785" y="1840585"/>
                    <a:pt x="4034388" y="1854983"/>
                    <a:pt x="4016628" y="1854983"/>
                  </a:cubicBezTo>
                  <a:lnTo>
                    <a:pt x="32157" y="1854983"/>
                  </a:lnTo>
                  <a:cubicBezTo>
                    <a:pt x="14397" y="1854983"/>
                    <a:pt x="0" y="1840585"/>
                    <a:pt x="0" y="1822825"/>
                  </a:cubicBezTo>
                  <a:lnTo>
                    <a:pt x="0" y="32157"/>
                  </a:lnTo>
                  <a:cubicBezTo>
                    <a:pt x="0" y="14397"/>
                    <a:pt x="14397" y="0"/>
                    <a:pt x="32157"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1" id="11"/>
            <p:cNvSpPr txBox="true"/>
            <p:nvPr/>
          </p:nvSpPr>
          <p:spPr>
            <a:xfrm>
              <a:off x="0" y="-38100"/>
              <a:ext cx="4048785" cy="189308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1356754" y="6905028"/>
            <a:ext cx="2967069" cy="807119"/>
            <a:chOff x="0" y="0"/>
            <a:chExt cx="418225" cy="113768"/>
          </a:xfrm>
        </p:grpSpPr>
        <p:sp>
          <p:nvSpPr>
            <p:cNvPr name="Freeform 13" id="13"/>
            <p:cNvSpPr/>
            <p:nvPr/>
          </p:nvSpPr>
          <p:spPr>
            <a:xfrm flipH="false" flipV="false" rot="0">
              <a:off x="0" y="0"/>
              <a:ext cx="418225" cy="113768"/>
            </a:xfrm>
            <a:custGeom>
              <a:avLst/>
              <a:gdLst/>
              <a:ahLst/>
              <a:cxnLst/>
              <a:rect r="r" b="b" t="t" l="l"/>
              <a:pathLst>
                <a:path h="113768" w="418225">
                  <a:moveTo>
                    <a:pt x="56884" y="0"/>
                  </a:moveTo>
                  <a:lnTo>
                    <a:pt x="361341" y="0"/>
                  </a:lnTo>
                  <a:cubicBezTo>
                    <a:pt x="376427" y="0"/>
                    <a:pt x="390896" y="5993"/>
                    <a:pt x="401564" y="16661"/>
                  </a:cubicBezTo>
                  <a:cubicBezTo>
                    <a:pt x="412232" y="27329"/>
                    <a:pt x="418225" y="41797"/>
                    <a:pt x="418225" y="56884"/>
                  </a:cubicBezTo>
                  <a:lnTo>
                    <a:pt x="418225" y="56884"/>
                  </a:lnTo>
                  <a:cubicBezTo>
                    <a:pt x="418225" y="88300"/>
                    <a:pt x="392757" y="113768"/>
                    <a:pt x="361341" y="113768"/>
                  </a:cubicBezTo>
                  <a:lnTo>
                    <a:pt x="56884" y="113768"/>
                  </a:lnTo>
                  <a:cubicBezTo>
                    <a:pt x="25468" y="113768"/>
                    <a:pt x="0" y="88300"/>
                    <a:pt x="0" y="56884"/>
                  </a:cubicBezTo>
                  <a:lnTo>
                    <a:pt x="0" y="56884"/>
                  </a:lnTo>
                  <a:cubicBezTo>
                    <a:pt x="0" y="25468"/>
                    <a:pt x="25468" y="0"/>
                    <a:pt x="56884"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4" id="14"/>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6754185" y="4440486"/>
            <a:ext cx="1010230" cy="10102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7" id="17"/>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8" id="18"/>
          <p:cNvGrpSpPr/>
          <p:nvPr/>
        </p:nvGrpSpPr>
        <p:grpSpPr>
          <a:xfrm rot="0">
            <a:off x="16886512" y="5985800"/>
            <a:ext cx="745577" cy="74557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0" id="20"/>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21" id="21"/>
          <p:cNvGrpSpPr/>
          <p:nvPr/>
        </p:nvGrpSpPr>
        <p:grpSpPr>
          <a:xfrm rot="0">
            <a:off x="16886512" y="3159825"/>
            <a:ext cx="745577" cy="74557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3" id="23"/>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24" id="24"/>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sp>
        <p:nvSpPr>
          <p:cNvPr name="TextBox 25" id="25"/>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26" id="26"/>
          <p:cNvSpPr txBox="true"/>
          <p:nvPr/>
        </p:nvSpPr>
        <p:spPr>
          <a:xfrm rot="0">
            <a:off x="1432260" y="2009309"/>
            <a:ext cx="6669234" cy="1018507"/>
          </a:xfrm>
          <a:prstGeom prst="rect">
            <a:avLst/>
          </a:prstGeom>
        </p:spPr>
        <p:txBody>
          <a:bodyPr anchor="t" rtlCol="false" tIns="0" lIns="0" bIns="0" rIns="0">
            <a:spAutoFit/>
          </a:bodyPr>
          <a:lstStyle/>
          <a:p>
            <a:pPr algn="l">
              <a:lnSpc>
                <a:spcPts val="7279"/>
              </a:lnSpc>
            </a:pPr>
            <a:r>
              <a:rPr lang="en-US" sz="6999" b="true">
                <a:solidFill>
                  <a:srgbClr val="FFFFFF"/>
                </a:solidFill>
                <a:latin typeface="Poppins Bold"/>
                <a:ea typeface="Poppins Bold"/>
                <a:cs typeface="Poppins Bold"/>
                <a:sym typeface="Poppins Bold"/>
              </a:rPr>
              <a:t>Introduction</a:t>
            </a:r>
          </a:p>
        </p:txBody>
      </p:sp>
      <p:sp>
        <p:nvSpPr>
          <p:cNvPr name="TextBox 27" id="27"/>
          <p:cNvSpPr txBox="true"/>
          <p:nvPr/>
        </p:nvSpPr>
        <p:spPr>
          <a:xfrm rot="0">
            <a:off x="11606959" y="7033950"/>
            <a:ext cx="2466661"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Learn More</a:t>
            </a:r>
          </a:p>
        </p:txBody>
      </p:sp>
      <p:sp>
        <p:nvSpPr>
          <p:cNvPr name="TextBox 28" id="28"/>
          <p:cNvSpPr txBox="true"/>
          <p:nvPr/>
        </p:nvSpPr>
        <p:spPr>
          <a:xfrm rot="0">
            <a:off x="16754185" y="4766752"/>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sp>
        <p:nvSpPr>
          <p:cNvPr name="TextBox 29" id="29"/>
          <p:cNvSpPr txBox="true"/>
          <p:nvPr/>
        </p:nvSpPr>
        <p:spPr>
          <a:xfrm rot="0">
            <a:off x="16886512" y="6231584"/>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sp>
        <p:nvSpPr>
          <p:cNvPr name="TextBox 30" id="30"/>
          <p:cNvSpPr txBox="true"/>
          <p:nvPr/>
        </p:nvSpPr>
        <p:spPr>
          <a:xfrm rot="0">
            <a:off x="16886512" y="3405608"/>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grpSp>
        <p:nvGrpSpPr>
          <p:cNvPr name="Group 31" id="31"/>
          <p:cNvGrpSpPr/>
          <p:nvPr/>
        </p:nvGrpSpPr>
        <p:grpSpPr>
          <a:xfrm rot="0">
            <a:off x="387015" y="3678668"/>
            <a:ext cx="807119" cy="80711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5400000">
            <a:off x="639763" y="3950267"/>
            <a:ext cx="301625" cy="263922"/>
            <a:chOff x="0" y="0"/>
            <a:chExt cx="812800" cy="711200"/>
          </a:xfrm>
        </p:grpSpPr>
        <p:sp>
          <p:nvSpPr>
            <p:cNvPr name="Freeform 35" id="3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36" id="36"/>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sp>
        <p:nvSpPr>
          <p:cNvPr name="TextBox 37" id="37"/>
          <p:cNvSpPr txBox="true"/>
          <p:nvPr/>
        </p:nvSpPr>
        <p:spPr>
          <a:xfrm rot="0">
            <a:off x="1432260" y="3589155"/>
            <a:ext cx="7445068" cy="263207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Dans un contexte de transformation numérique, les organisations doivent livrer rapidement des applications fiables et évolutives. </a:t>
            </a:r>
            <a:r>
              <a:rPr lang="en-US" b="true" sz="2499">
                <a:solidFill>
                  <a:srgbClr val="D51D7F"/>
                </a:solidFill>
                <a:latin typeface="Poppins Bold"/>
                <a:ea typeface="Poppins Bold"/>
                <a:cs typeface="Poppins Bold"/>
                <a:sym typeface="Poppins Bold"/>
              </a:rPr>
              <a:t>Les méthodes traditionnelles,</a:t>
            </a:r>
            <a:r>
              <a:rPr lang="en-US" sz="2499">
                <a:solidFill>
                  <a:srgbClr val="FFFFFF"/>
                </a:solidFill>
                <a:latin typeface="Poppins"/>
                <a:ea typeface="Poppins"/>
                <a:cs typeface="Poppins"/>
                <a:sym typeface="Poppins"/>
              </a:rPr>
              <a:t> cloisonnées entre développement et exploitation, ne suffisent plus.</a:t>
            </a:r>
          </a:p>
        </p:txBody>
      </p:sp>
      <p:grpSp>
        <p:nvGrpSpPr>
          <p:cNvPr name="Group 38" id="38"/>
          <p:cNvGrpSpPr/>
          <p:nvPr/>
        </p:nvGrpSpPr>
        <p:grpSpPr>
          <a:xfrm rot="0">
            <a:off x="387015" y="6754215"/>
            <a:ext cx="807119" cy="807119"/>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5400000">
            <a:off x="639763" y="7025814"/>
            <a:ext cx="301625" cy="263922"/>
            <a:chOff x="0" y="0"/>
            <a:chExt cx="812800" cy="711200"/>
          </a:xfrm>
        </p:grpSpPr>
        <p:sp>
          <p:nvSpPr>
            <p:cNvPr name="Freeform 42" id="4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43" id="43"/>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sp>
        <p:nvSpPr>
          <p:cNvPr name="TextBox 44" id="44"/>
          <p:cNvSpPr txBox="true"/>
          <p:nvPr/>
        </p:nvSpPr>
        <p:spPr>
          <a:xfrm rot="0">
            <a:off x="1432260" y="6664702"/>
            <a:ext cx="7445068" cy="2632075"/>
          </a:xfrm>
          <a:prstGeom prst="rect">
            <a:avLst/>
          </a:prstGeom>
        </p:spPr>
        <p:txBody>
          <a:bodyPr anchor="t" rtlCol="false" tIns="0" lIns="0" bIns="0" rIns="0">
            <a:spAutoFit/>
          </a:bodyPr>
          <a:lstStyle/>
          <a:p>
            <a:pPr algn="just">
              <a:lnSpc>
                <a:spcPts val="3499"/>
              </a:lnSpc>
              <a:spcBef>
                <a:spcPct val="0"/>
              </a:spcBef>
            </a:pPr>
            <a:r>
              <a:rPr lang="en-US" b="true" sz="2499">
                <a:solidFill>
                  <a:srgbClr val="D51D7F"/>
                </a:solidFill>
                <a:latin typeface="Poppins Bold"/>
                <a:ea typeface="Poppins Bold"/>
                <a:cs typeface="Poppins Bold"/>
                <a:sym typeface="Poppins Bold"/>
              </a:rPr>
              <a:t>L’approche DevOps</a:t>
            </a:r>
            <a:r>
              <a:rPr lang="en-US" sz="2499">
                <a:solidFill>
                  <a:srgbClr val="FFFFFF"/>
                </a:solidFill>
                <a:latin typeface="Poppins"/>
                <a:ea typeface="Poppins"/>
                <a:cs typeface="Poppins"/>
                <a:sym typeface="Poppins"/>
              </a:rPr>
              <a:t> émerge comme une solution intégrée, combinant collaboration entre équipes, automatisation des processus, intégration continue et déploiement continu, pour améliorer la qualité des applications et la productivité des équipes.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184083">
            <a:off x="1691341" y="-1403373"/>
            <a:ext cx="5755537" cy="6731622"/>
          </a:xfrm>
          <a:custGeom>
            <a:avLst/>
            <a:gdLst/>
            <a:ahLst/>
            <a:cxnLst/>
            <a:rect r="r" b="b" t="t" l="l"/>
            <a:pathLst>
              <a:path h="6731622" w="5755537">
                <a:moveTo>
                  <a:pt x="0" y="0"/>
                </a:moveTo>
                <a:lnTo>
                  <a:pt x="5755537" y="0"/>
                </a:lnTo>
                <a:lnTo>
                  <a:pt x="5755537" y="6731622"/>
                </a:lnTo>
                <a:lnTo>
                  <a:pt x="0" y="6731622"/>
                </a:lnTo>
                <a:lnTo>
                  <a:pt x="0" y="0"/>
                </a:lnTo>
                <a:close/>
              </a:path>
            </a:pathLst>
          </a:custGeom>
          <a:blipFill>
            <a:blip r:embed="rId2">
              <a:alphaModFix amt="19999"/>
            </a:blip>
            <a:stretch>
              <a:fillRect l="0" t="0" r="0" b="0"/>
            </a:stretch>
          </a:blipFill>
        </p:spPr>
      </p:sp>
      <p:sp>
        <p:nvSpPr>
          <p:cNvPr name="TextBox 3" id="3"/>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grpSp>
        <p:nvGrpSpPr>
          <p:cNvPr name="Group 4" id="4"/>
          <p:cNvGrpSpPr/>
          <p:nvPr/>
        </p:nvGrpSpPr>
        <p:grpSpPr>
          <a:xfrm rot="0">
            <a:off x="8334438" y="886061"/>
            <a:ext cx="1704988" cy="593627"/>
            <a:chOff x="0" y="0"/>
            <a:chExt cx="240327" cy="83675"/>
          </a:xfrm>
        </p:grpSpPr>
        <p:sp>
          <p:nvSpPr>
            <p:cNvPr name="Freeform 5" id="5"/>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6" id="6"/>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9650877" y="1973741"/>
            <a:ext cx="7689544" cy="5430740"/>
          </a:xfrm>
          <a:custGeom>
            <a:avLst/>
            <a:gdLst/>
            <a:ahLst/>
            <a:cxnLst/>
            <a:rect r="r" b="b" t="t" l="l"/>
            <a:pathLst>
              <a:path h="5430740" w="7689544">
                <a:moveTo>
                  <a:pt x="0" y="0"/>
                </a:moveTo>
                <a:lnTo>
                  <a:pt x="7689544" y="0"/>
                </a:lnTo>
                <a:lnTo>
                  <a:pt x="7689544" y="5430741"/>
                </a:lnTo>
                <a:lnTo>
                  <a:pt x="0" y="5430741"/>
                </a:lnTo>
                <a:lnTo>
                  <a:pt x="0" y="0"/>
                </a:lnTo>
                <a:close/>
              </a:path>
            </a:pathLst>
          </a:custGeom>
          <a:blipFill>
            <a:blip r:embed="rId3"/>
            <a:stretch>
              <a:fillRect l="0" t="0" r="0" b="0"/>
            </a:stretch>
          </a:blipFill>
        </p:spPr>
      </p:sp>
      <p:sp>
        <p:nvSpPr>
          <p:cNvPr name="TextBox 8" id="8"/>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sp>
        <p:nvSpPr>
          <p:cNvPr name="TextBox 9" id="9"/>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0" id="10"/>
          <p:cNvSpPr txBox="true"/>
          <p:nvPr/>
        </p:nvSpPr>
        <p:spPr>
          <a:xfrm rot="0">
            <a:off x="1028700" y="2354016"/>
            <a:ext cx="7455883" cy="1942465"/>
          </a:xfrm>
          <a:prstGeom prst="rect">
            <a:avLst/>
          </a:prstGeom>
        </p:spPr>
        <p:txBody>
          <a:bodyPr anchor="t" rtlCol="false" tIns="0" lIns="0" bIns="0" rIns="0">
            <a:spAutoFit/>
          </a:bodyPr>
          <a:lstStyle/>
          <a:p>
            <a:pPr algn="l">
              <a:lnSpc>
                <a:spcPts val="7279"/>
              </a:lnSpc>
            </a:pPr>
            <a:r>
              <a:rPr lang="en-US" sz="6999" b="true">
                <a:solidFill>
                  <a:srgbClr val="3147B9"/>
                </a:solidFill>
                <a:latin typeface="Poppins Bold"/>
                <a:ea typeface="Poppins Bold"/>
                <a:cs typeface="Poppins Bold"/>
                <a:sym typeface="Poppins Bold"/>
              </a:rPr>
              <a:t>Contexte et problématique</a:t>
            </a:r>
          </a:p>
        </p:txBody>
      </p:sp>
      <p:sp>
        <p:nvSpPr>
          <p:cNvPr name="TextBox 11" id="11"/>
          <p:cNvSpPr txBox="true"/>
          <p:nvPr/>
        </p:nvSpPr>
        <p:spPr>
          <a:xfrm rot="0">
            <a:off x="1028700" y="5019675"/>
            <a:ext cx="6949006" cy="2568575"/>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Le déploiement des applications dans des environnements cloud distribués est complexe et sujet à des erreurs lorsqu’il est réalisé manuellement. Les processus traditionnels manquent de reproductibilité et ne permettent pas une mise à jour rapide et sécurisée. </a:t>
            </a:r>
          </a:p>
        </p:txBody>
      </p:sp>
      <p:sp>
        <p:nvSpPr>
          <p:cNvPr name="TextBox 12" id="12"/>
          <p:cNvSpPr txBox="true"/>
          <p:nvPr/>
        </p:nvSpPr>
        <p:spPr>
          <a:xfrm rot="0">
            <a:off x="6925721" y="7730745"/>
            <a:ext cx="6949006" cy="2139950"/>
          </a:xfrm>
          <a:prstGeom prst="rect">
            <a:avLst/>
          </a:prstGeom>
        </p:spPr>
        <p:txBody>
          <a:bodyPr anchor="t" rtlCol="false" tIns="0" lIns="0" bIns="0" rIns="0">
            <a:spAutoFit/>
          </a:bodyPr>
          <a:lstStyle/>
          <a:p>
            <a:pPr algn="just">
              <a:lnSpc>
                <a:spcPts val="3400"/>
              </a:lnSpc>
            </a:pPr>
            <a:r>
              <a:rPr lang="en-US" sz="2000">
                <a:solidFill>
                  <a:srgbClr val="FFFFFF"/>
                </a:solidFill>
                <a:latin typeface="Poppins"/>
                <a:ea typeface="Poppins"/>
                <a:cs typeface="Poppins"/>
                <a:sym typeface="Poppins"/>
              </a:rPr>
              <a:t>Il devient donc essentiel de mettre en place une infrastructure capable d’automatiser toutes les étapes du cycle de vie applicatif, depuis le build jusqu’au déploiement, tout en garantissant cohérence, scalabilité et fiabilité.</a:t>
            </a:r>
          </a:p>
        </p:txBody>
      </p:sp>
      <p:grpSp>
        <p:nvGrpSpPr>
          <p:cNvPr name="Group 13" id="13"/>
          <p:cNvGrpSpPr/>
          <p:nvPr/>
        </p:nvGrpSpPr>
        <p:grpSpPr>
          <a:xfrm rot="0">
            <a:off x="10070621" y="1697066"/>
            <a:ext cx="6800625" cy="5940127"/>
            <a:chOff x="0" y="0"/>
            <a:chExt cx="3514862" cy="3070119"/>
          </a:xfrm>
        </p:grpSpPr>
        <p:sp>
          <p:nvSpPr>
            <p:cNvPr name="Freeform 14" id="14"/>
            <p:cNvSpPr/>
            <p:nvPr/>
          </p:nvSpPr>
          <p:spPr>
            <a:xfrm flipH="false" flipV="false" rot="0">
              <a:off x="0" y="0"/>
              <a:ext cx="3514862" cy="3070119"/>
            </a:xfrm>
            <a:custGeom>
              <a:avLst/>
              <a:gdLst/>
              <a:ahLst/>
              <a:cxnLst/>
              <a:rect r="r" b="b" t="t" l="l"/>
              <a:pathLst>
                <a:path h="3070119" w="3514862">
                  <a:moveTo>
                    <a:pt x="31840" y="0"/>
                  </a:moveTo>
                  <a:lnTo>
                    <a:pt x="3483022" y="0"/>
                  </a:lnTo>
                  <a:cubicBezTo>
                    <a:pt x="3491466" y="0"/>
                    <a:pt x="3499565" y="3355"/>
                    <a:pt x="3505536" y="9326"/>
                  </a:cubicBezTo>
                  <a:cubicBezTo>
                    <a:pt x="3511507" y="15297"/>
                    <a:pt x="3514862" y="23396"/>
                    <a:pt x="3514862" y="31840"/>
                  </a:cubicBezTo>
                  <a:lnTo>
                    <a:pt x="3514862" y="3038278"/>
                  </a:lnTo>
                  <a:cubicBezTo>
                    <a:pt x="3514862" y="3055863"/>
                    <a:pt x="3500606" y="3070119"/>
                    <a:pt x="3483022" y="3070119"/>
                  </a:cubicBezTo>
                  <a:lnTo>
                    <a:pt x="31840" y="3070119"/>
                  </a:lnTo>
                  <a:cubicBezTo>
                    <a:pt x="14255" y="3070119"/>
                    <a:pt x="0" y="3055863"/>
                    <a:pt x="0" y="3038278"/>
                  </a:cubicBezTo>
                  <a:lnTo>
                    <a:pt x="0" y="31840"/>
                  </a:lnTo>
                  <a:cubicBezTo>
                    <a:pt x="0" y="14255"/>
                    <a:pt x="14255" y="0"/>
                    <a:pt x="31840"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5" id="15"/>
            <p:cNvSpPr txBox="true"/>
            <p:nvPr/>
          </p:nvSpPr>
          <p:spPr>
            <a:xfrm>
              <a:off x="0" y="-38100"/>
              <a:ext cx="3514862" cy="310821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7277770" y="4162014"/>
            <a:ext cx="1010230" cy="101023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8" id="18"/>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9" id="19"/>
          <p:cNvGrpSpPr/>
          <p:nvPr/>
        </p:nvGrpSpPr>
        <p:grpSpPr>
          <a:xfrm rot="0">
            <a:off x="17410097" y="5707329"/>
            <a:ext cx="745577" cy="7455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1" id="21"/>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22" id="22"/>
          <p:cNvGrpSpPr/>
          <p:nvPr/>
        </p:nvGrpSpPr>
        <p:grpSpPr>
          <a:xfrm rot="0">
            <a:off x="17410097" y="2881353"/>
            <a:ext cx="745577" cy="74557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4" id="24"/>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25" id="25"/>
          <p:cNvSpPr txBox="true"/>
          <p:nvPr/>
        </p:nvSpPr>
        <p:spPr>
          <a:xfrm rot="0">
            <a:off x="17277770" y="4488280"/>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sp>
        <p:nvSpPr>
          <p:cNvPr name="TextBox 26" id="26"/>
          <p:cNvSpPr txBox="true"/>
          <p:nvPr/>
        </p:nvSpPr>
        <p:spPr>
          <a:xfrm rot="0">
            <a:off x="17410097" y="5953112"/>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sp>
        <p:nvSpPr>
          <p:cNvPr name="TextBox 27" id="27"/>
          <p:cNvSpPr txBox="true"/>
          <p:nvPr/>
        </p:nvSpPr>
        <p:spPr>
          <a:xfrm rot="0">
            <a:off x="17410097" y="3127137"/>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grpSp>
        <p:nvGrpSpPr>
          <p:cNvPr name="Group 3" id="3"/>
          <p:cNvGrpSpPr/>
          <p:nvPr/>
        </p:nvGrpSpPr>
        <p:grpSpPr>
          <a:xfrm rot="0">
            <a:off x="8334438" y="886061"/>
            <a:ext cx="1704988" cy="593627"/>
            <a:chOff x="0" y="0"/>
            <a:chExt cx="240327" cy="83675"/>
          </a:xfrm>
        </p:grpSpPr>
        <p:sp>
          <p:nvSpPr>
            <p:cNvPr name="Freeform 4" id="4"/>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5" id="5"/>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962519" y="2175132"/>
            <a:ext cx="7105070" cy="3408053"/>
            <a:chOff x="0" y="0"/>
            <a:chExt cx="3837866" cy="1840889"/>
          </a:xfrm>
        </p:grpSpPr>
        <p:sp>
          <p:nvSpPr>
            <p:cNvPr name="Freeform 7" id="7"/>
            <p:cNvSpPr/>
            <p:nvPr/>
          </p:nvSpPr>
          <p:spPr>
            <a:xfrm flipH="false" flipV="false" rot="0">
              <a:off x="0" y="0"/>
              <a:ext cx="3837866" cy="1840889"/>
            </a:xfrm>
            <a:custGeom>
              <a:avLst/>
              <a:gdLst/>
              <a:ahLst/>
              <a:cxnLst/>
              <a:rect r="r" b="b" t="t" l="l"/>
              <a:pathLst>
                <a:path h="1840889" w="3837866">
                  <a:moveTo>
                    <a:pt x="30476" y="0"/>
                  </a:moveTo>
                  <a:lnTo>
                    <a:pt x="3807390" y="0"/>
                  </a:lnTo>
                  <a:cubicBezTo>
                    <a:pt x="3824221" y="0"/>
                    <a:pt x="3837866" y="13645"/>
                    <a:pt x="3837866" y="30476"/>
                  </a:cubicBezTo>
                  <a:lnTo>
                    <a:pt x="3837866" y="1810414"/>
                  </a:lnTo>
                  <a:cubicBezTo>
                    <a:pt x="3837866" y="1818496"/>
                    <a:pt x="3834655" y="1826248"/>
                    <a:pt x="3828940" y="1831963"/>
                  </a:cubicBezTo>
                  <a:cubicBezTo>
                    <a:pt x="3823224" y="1837679"/>
                    <a:pt x="3815473" y="1840889"/>
                    <a:pt x="3807390" y="1840889"/>
                  </a:cubicBezTo>
                  <a:lnTo>
                    <a:pt x="30476" y="1840889"/>
                  </a:lnTo>
                  <a:cubicBezTo>
                    <a:pt x="22393" y="1840889"/>
                    <a:pt x="14642" y="1837679"/>
                    <a:pt x="8926" y="1831963"/>
                  </a:cubicBezTo>
                  <a:cubicBezTo>
                    <a:pt x="3211" y="1826248"/>
                    <a:pt x="0" y="1818496"/>
                    <a:pt x="0" y="1810414"/>
                  </a:cubicBezTo>
                  <a:lnTo>
                    <a:pt x="0" y="30476"/>
                  </a:lnTo>
                  <a:cubicBezTo>
                    <a:pt x="0" y="22393"/>
                    <a:pt x="3211" y="14642"/>
                    <a:pt x="8926" y="8926"/>
                  </a:cubicBezTo>
                  <a:cubicBezTo>
                    <a:pt x="14642" y="3211"/>
                    <a:pt x="22393" y="0"/>
                    <a:pt x="30476" y="0"/>
                  </a:cubicBezTo>
                  <a:close/>
                </a:path>
              </a:pathLst>
            </a:custGeom>
            <a:solidFill>
              <a:srgbClr val="000000"/>
            </a:solidFill>
            <a:ln w="19050" cap="rnd">
              <a:gradFill>
                <a:gsLst>
                  <a:gs pos="0">
                    <a:srgbClr val="B900BC">
                      <a:alpha val="100000"/>
                    </a:srgbClr>
                  </a:gs>
                  <a:gs pos="100000">
                    <a:srgbClr val="009CFF">
                      <a:alpha val="100000"/>
                    </a:srgbClr>
                  </a:gs>
                </a:gsLst>
                <a:lin ang="0"/>
              </a:gradFill>
              <a:prstDash val="solid"/>
              <a:round/>
            </a:ln>
          </p:spPr>
        </p:sp>
        <p:sp>
          <p:nvSpPr>
            <p:cNvPr name="TextBox 8" id="8"/>
            <p:cNvSpPr txBox="true"/>
            <p:nvPr/>
          </p:nvSpPr>
          <p:spPr>
            <a:xfrm>
              <a:off x="0" y="-38100"/>
              <a:ext cx="3837866" cy="1878989"/>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067589" y="5275969"/>
            <a:ext cx="1010230" cy="101023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1" id="11"/>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2" id="12"/>
          <p:cNvGrpSpPr/>
          <p:nvPr/>
        </p:nvGrpSpPr>
        <p:grpSpPr>
          <a:xfrm rot="0">
            <a:off x="17199915" y="6821283"/>
            <a:ext cx="745577" cy="7455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4" id="14"/>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5" id="15"/>
          <p:cNvGrpSpPr/>
          <p:nvPr/>
        </p:nvGrpSpPr>
        <p:grpSpPr>
          <a:xfrm rot="0">
            <a:off x="17199915" y="3995307"/>
            <a:ext cx="745577" cy="74557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7" id="17"/>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Freeform 18" id="18"/>
          <p:cNvSpPr/>
          <p:nvPr/>
        </p:nvSpPr>
        <p:spPr>
          <a:xfrm flipH="false" flipV="false" rot="1184083">
            <a:off x="11564967" y="-3218375"/>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2">
              <a:alphaModFix amt="19999"/>
            </a:blip>
            <a:stretch>
              <a:fillRect l="0" t="0" r="0" b="0"/>
            </a:stretch>
          </a:blipFill>
        </p:spPr>
      </p:sp>
      <p:grpSp>
        <p:nvGrpSpPr>
          <p:cNvPr name="Group 19" id="19"/>
          <p:cNvGrpSpPr/>
          <p:nvPr/>
        </p:nvGrpSpPr>
        <p:grpSpPr>
          <a:xfrm rot="0">
            <a:off x="10199187" y="2454780"/>
            <a:ext cx="6649033" cy="2969430"/>
            <a:chOff x="0" y="0"/>
            <a:chExt cx="1100078" cy="491290"/>
          </a:xfrm>
        </p:grpSpPr>
        <p:sp>
          <p:nvSpPr>
            <p:cNvPr name="Freeform 20" id="20"/>
            <p:cNvSpPr/>
            <p:nvPr/>
          </p:nvSpPr>
          <p:spPr>
            <a:xfrm flipH="false" flipV="false" rot="0">
              <a:off x="0" y="0"/>
              <a:ext cx="1100078" cy="491290"/>
            </a:xfrm>
            <a:custGeom>
              <a:avLst/>
              <a:gdLst/>
              <a:ahLst/>
              <a:cxnLst/>
              <a:rect r="r" b="b" t="t" l="l"/>
              <a:pathLst>
                <a:path h="491290" w="1100078">
                  <a:moveTo>
                    <a:pt x="26780" y="0"/>
                  </a:moveTo>
                  <a:lnTo>
                    <a:pt x="1073298" y="0"/>
                  </a:lnTo>
                  <a:cubicBezTo>
                    <a:pt x="1080400" y="0"/>
                    <a:pt x="1087212" y="2822"/>
                    <a:pt x="1092234" y="7844"/>
                  </a:cubicBezTo>
                  <a:cubicBezTo>
                    <a:pt x="1097257" y="12866"/>
                    <a:pt x="1100078" y="19678"/>
                    <a:pt x="1100078" y="26780"/>
                  </a:cubicBezTo>
                  <a:lnTo>
                    <a:pt x="1100078" y="464510"/>
                  </a:lnTo>
                  <a:cubicBezTo>
                    <a:pt x="1100078" y="471612"/>
                    <a:pt x="1097257" y="478424"/>
                    <a:pt x="1092234" y="483446"/>
                  </a:cubicBezTo>
                  <a:cubicBezTo>
                    <a:pt x="1087212" y="488469"/>
                    <a:pt x="1080400" y="491290"/>
                    <a:pt x="1073298" y="491290"/>
                  </a:cubicBezTo>
                  <a:lnTo>
                    <a:pt x="26780" y="491290"/>
                  </a:lnTo>
                  <a:cubicBezTo>
                    <a:pt x="19678" y="491290"/>
                    <a:pt x="12866" y="488469"/>
                    <a:pt x="7844" y="483446"/>
                  </a:cubicBezTo>
                  <a:cubicBezTo>
                    <a:pt x="2822" y="478424"/>
                    <a:pt x="0" y="471612"/>
                    <a:pt x="0" y="464510"/>
                  </a:cubicBezTo>
                  <a:lnTo>
                    <a:pt x="0" y="26780"/>
                  </a:lnTo>
                  <a:cubicBezTo>
                    <a:pt x="0" y="19678"/>
                    <a:pt x="2822" y="12866"/>
                    <a:pt x="7844" y="7844"/>
                  </a:cubicBezTo>
                  <a:cubicBezTo>
                    <a:pt x="12866" y="2822"/>
                    <a:pt x="19678" y="0"/>
                    <a:pt x="26780" y="0"/>
                  </a:cubicBezTo>
                  <a:close/>
                </a:path>
              </a:pathLst>
            </a:custGeom>
            <a:blipFill>
              <a:blip r:embed="rId3"/>
              <a:stretch>
                <a:fillRect l="0" t="-1074" r="0" b="-8364"/>
              </a:stretch>
            </a:blipFill>
          </p:spPr>
        </p:sp>
      </p:grpSp>
      <p:grpSp>
        <p:nvGrpSpPr>
          <p:cNvPr name="Group 21" id="21"/>
          <p:cNvGrpSpPr/>
          <p:nvPr/>
        </p:nvGrpSpPr>
        <p:grpSpPr>
          <a:xfrm rot="0">
            <a:off x="9962519" y="6127224"/>
            <a:ext cx="7105070" cy="3408053"/>
            <a:chOff x="0" y="0"/>
            <a:chExt cx="3837866" cy="1840889"/>
          </a:xfrm>
        </p:grpSpPr>
        <p:sp>
          <p:nvSpPr>
            <p:cNvPr name="Freeform 22" id="22"/>
            <p:cNvSpPr/>
            <p:nvPr/>
          </p:nvSpPr>
          <p:spPr>
            <a:xfrm flipH="false" flipV="false" rot="0">
              <a:off x="0" y="0"/>
              <a:ext cx="3837866" cy="1840889"/>
            </a:xfrm>
            <a:custGeom>
              <a:avLst/>
              <a:gdLst/>
              <a:ahLst/>
              <a:cxnLst/>
              <a:rect r="r" b="b" t="t" l="l"/>
              <a:pathLst>
                <a:path h="1840889" w="3837866">
                  <a:moveTo>
                    <a:pt x="30476" y="0"/>
                  </a:moveTo>
                  <a:lnTo>
                    <a:pt x="3807390" y="0"/>
                  </a:lnTo>
                  <a:cubicBezTo>
                    <a:pt x="3824221" y="0"/>
                    <a:pt x="3837866" y="13645"/>
                    <a:pt x="3837866" y="30476"/>
                  </a:cubicBezTo>
                  <a:lnTo>
                    <a:pt x="3837866" y="1810414"/>
                  </a:lnTo>
                  <a:cubicBezTo>
                    <a:pt x="3837866" y="1818496"/>
                    <a:pt x="3834655" y="1826248"/>
                    <a:pt x="3828940" y="1831963"/>
                  </a:cubicBezTo>
                  <a:cubicBezTo>
                    <a:pt x="3823224" y="1837679"/>
                    <a:pt x="3815473" y="1840889"/>
                    <a:pt x="3807390" y="1840889"/>
                  </a:cubicBezTo>
                  <a:lnTo>
                    <a:pt x="30476" y="1840889"/>
                  </a:lnTo>
                  <a:cubicBezTo>
                    <a:pt x="22393" y="1840889"/>
                    <a:pt x="14642" y="1837679"/>
                    <a:pt x="8926" y="1831963"/>
                  </a:cubicBezTo>
                  <a:cubicBezTo>
                    <a:pt x="3211" y="1826248"/>
                    <a:pt x="0" y="1818496"/>
                    <a:pt x="0" y="1810414"/>
                  </a:cubicBezTo>
                  <a:lnTo>
                    <a:pt x="0" y="30476"/>
                  </a:lnTo>
                  <a:cubicBezTo>
                    <a:pt x="0" y="22393"/>
                    <a:pt x="3211" y="14642"/>
                    <a:pt x="8926" y="8926"/>
                  </a:cubicBezTo>
                  <a:cubicBezTo>
                    <a:pt x="14642" y="3211"/>
                    <a:pt x="22393" y="0"/>
                    <a:pt x="30476" y="0"/>
                  </a:cubicBezTo>
                  <a:close/>
                </a:path>
              </a:pathLst>
            </a:custGeom>
            <a:solidFill>
              <a:srgbClr val="000000"/>
            </a:solidFill>
            <a:ln w="19050" cap="rnd">
              <a:gradFill>
                <a:gsLst>
                  <a:gs pos="0">
                    <a:srgbClr val="B900BC">
                      <a:alpha val="100000"/>
                    </a:srgbClr>
                  </a:gs>
                  <a:gs pos="100000">
                    <a:srgbClr val="009CFF">
                      <a:alpha val="100000"/>
                    </a:srgbClr>
                  </a:gs>
                </a:gsLst>
                <a:lin ang="0"/>
              </a:gradFill>
              <a:prstDash val="solid"/>
              <a:round/>
            </a:ln>
          </p:spPr>
        </p:sp>
        <p:sp>
          <p:nvSpPr>
            <p:cNvPr name="TextBox 23" id="23"/>
            <p:cNvSpPr txBox="true"/>
            <p:nvPr/>
          </p:nvSpPr>
          <p:spPr>
            <a:xfrm>
              <a:off x="0" y="-38100"/>
              <a:ext cx="3837866" cy="1878989"/>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10199187" y="6286198"/>
            <a:ext cx="6649033" cy="2969430"/>
            <a:chOff x="0" y="0"/>
            <a:chExt cx="1100078" cy="491290"/>
          </a:xfrm>
        </p:grpSpPr>
        <p:sp>
          <p:nvSpPr>
            <p:cNvPr name="Freeform 25" id="25"/>
            <p:cNvSpPr/>
            <p:nvPr/>
          </p:nvSpPr>
          <p:spPr>
            <a:xfrm flipH="false" flipV="false" rot="0">
              <a:off x="0" y="0"/>
              <a:ext cx="1100078" cy="491290"/>
            </a:xfrm>
            <a:custGeom>
              <a:avLst/>
              <a:gdLst/>
              <a:ahLst/>
              <a:cxnLst/>
              <a:rect r="r" b="b" t="t" l="l"/>
              <a:pathLst>
                <a:path h="491290" w="1100078">
                  <a:moveTo>
                    <a:pt x="26780" y="0"/>
                  </a:moveTo>
                  <a:lnTo>
                    <a:pt x="1073298" y="0"/>
                  </a:lnTo>
                  <a:cubicBezTo>
                    <a:pt x="1080400" y="0"/>
                    <a:pt x="1087212" y="2822"/>
                    <a:pt x="1092234" y="7844"/>
                  </a:cubicBezTo>
                  <a:cubicBezTo>
                    <a:pt x="1097257" y="12866"/>
                    <a:pt x="1100078" y="19678"/>
                    <a:pt x="1100078" y="26780"/>
                  </a:cubicBezTo>
                  <a:lnTo>
                    <a:pt x="1100078" y="464510"/>
                  </a:lnTo>
                  <a:cubicBezTo>
                    <a:pt x="1100078" y="471612"/>
                    <a:pt x="1097257" y="478424"/>
                    <a:pt x="1092234" y="483446"/>
                  </a:cubicBezTo>
                  <a:cubicBezTo>
                    <a:pt x="1087212" y="488469"/>
                    <a:pt x="1080400" y="491290"/>
                    <a:pt x="1073298" y="491290"/>
                  </a:cubicBezTo>
                  <a:lnTo>
                    <a:pt x="26780" y="491290"/>
                  </a:lnTo>
                  <a:cubicBezTo>
                    <a:pt x="19678" y="491290"/>
                    <a:pt x="12866" y="488469"/>
                    <a:pt x="7844" y="483446"/>
                  </a:cubicBezTo>
                  <a:cubicBezTo>
                    <a:pt x="2822" y="478424"/>
                    <a:pt x="0" y="471612"/>
                    <a:pt x="0" y="464510"/>
                  </a:cubicBezTo>
                  <a:lnTo>
                    <a:pt x="0" y="26780"/>
                  </a:lnTo>
                  <a:cubicBezTo>
                    <a:pt x="0" y="19678"/>
                    <a:pt x="2822" y="12866"/>
                    <a:pt x="7844" y="7844"/>
                  </a:cubicBezTo>
                  <a:cubicBezTo>
                    <a:pt x="12866" y="2822"/>
                    <a:pt x="19678" y="0"/>
                    <a:pt x="26780" y="0"/>
                  </a:cubicBezTo>
                  <a:close/>
                </a:path>
              </a:pathLst>
            </a:custGeom>
            <a:blipFill>
              <a:blip r:embed="rId4"/>
              <a:stretch>
                <a:fillRect l="0" t="-9280" r="0" b="-4636"/>
              </a:stretch>
            </a:blipFill>
          </p:spPr>
        </p:sp>
      </p:grpSp>
      <p:sp>
        <p:nvSpPr>
          <p:cNvPr name="TextBox 26" id="26"/>
          <p:cNvSpPr txBox="true"/>
          <p:nvPr/>
        </p:nvSpPr>
        <p:spPr>
          <a:xfrm rot="0">
            <a:off x="1076756" y="1641993"/>
            <a:ext cx="9183190" cy="1942465"/>
          </a:xfrm>
          <a:prstGeom prst="rect">
            <a:avLst/>
          </a:prstGeom>
        </p:spPr>
        <p:txBody>
          <a:bodyPr anchor="t" rtlCol="false" tIns="0" lIns="0" bIns="0" rIns="0">
            <a:spAutoFit/>
          </a:bodyPr>
          <a:lstStyle/>
          <a:p>
            <a:pPr algn="l">
              <a:lnSpc>
                <a:spcPts val="7279"/>
              </a:lnSpc>
            </a:pPr>
            <a:r>
              <a:rPr lang="en-US" sz="6999" b="true">
                <a:solidFill>
                  <a:srgbClr val="FFFFFF"/>
                </a:solidFill>
                <a:latin typeface="Poppins Bold"/>
                <a:ea typeface="Poppins Bold"/>
                <a:cs typeface="Poppins Bold"/>
                <a:sym typeface="Poppins Bold"/>
              </a:rPr>
              <a:t>Présentation de l’application </a:t>
            </a:r>
            <a:r>
              <a:rPr lang="en-US" sz="6999" b="true">
                <a:solidFill>
                  <a:srgbClr val="C71F82"/>
                </a:solidFill>
                <a:latin typeface="Poppins Bold"/>
                <a:ea typeface="Poppins Bold"/>
                <a:cs typeface="Poppins Bold"/>
                <a:sym typeface="Poppins Bold"/>
              </a:rPr>
              <a:t>Swap</a:t>
            </a:r>
          </a:p>
        </p:txBody>
      </p:sp>
      <p:sp>
        <p:nvSpPr>
          <p:cNvPr name="TextBox 27" id="27"/>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28" id="28"/>
          <p:cNvSpPr txBox="true"/>
          <p:nvPr/>
        </p:nvSpPr>
        <p:spPr>
          <a:xfrm rot="0">
            <a:off x="1763582" y="4163458"/>
            <a:ext cx="7631091" cy="4711700"/>
          </a:xfrm>
          <a:prstGeom prst="rect">
            <a:avLst/>
          </a:prstGeom>
        </p:spPr>
        <p:txBody>
          <a:bodyPr anchor="t" rtlCol="false" tIns="0" lIns="0" bIns="0" rIns="0">
            <a:spAutoFit/>
          </a:bodyPr>
          <a:lstStyle/>
          <a:p>
            <a:pPr algn="just">
              <a:lnSpc>
                <a:spcPts val="3400"/>
              </a:lnSpc>
            </a:pPr>
            <a:r>
              <a:rPr lang="en-US" sz="2000">
                <a:solidFill>
                  <a:srgbClr val="F4F4F4"/>
                </a:solidFill>
                <a:latin typeface="Poppins"/>
                <a:ea typeface="Poppins"/>
                <a:cs typeface="Poppins"/>
                <a:sym typeface="Poppins"/>
              </a:rPr>
              <a:t>Afin de répondre à la problématique du déploiement complexe et non automatisé, nous avons développé Swap, une application e-commerce simulée basée sur Flask (Python). </a:t>
            </a:r>
          </a:p>
          <a:p>
            <a:pPr algn="just">
              <a:lnSpc>
                <a:spcPts val="3400"/>
              </a:lnSpc>
            </a:pPr>
          </a:p>
          <a:p>
            <a:pPr algn="just">
              <a:lnSpc>
                <a:spcPts val="3400"/>
              </a:lnSpc>
            </a:pPr>
          </a:p>
          <a:p>
            <a:pPr algn="just">
              <a:lnSpc>
                <a:spcPts val="3400"/>
              </a:lnSpc>
            </a:pPr>
            <a:r>
              <a:rPr lang="en-US" sz="2000">
                <a:solidFill>
                  <a:srgbClr val="F4F4F4"/>
                </a:solidFill>
                <a:latin typeface="Poppins"/>
                <a:ea typeface="Poppins"/>
                <a:cs typeface="Poppins"/>
                <a:sym typeface="Poppins"/>
              </a:rPr>
              <a:t>Elle propose une API REST permettant la gestion des produits et du panier. Cette application légère sert de cas pratique pour illustrer la mise en place d’un processus DevOps automatisé, garantissant portabilité, reproductibilité et déploiement fiable sur le cloud.</a:t>
            </a:r>
          </a:p>
        </p:txBody>
      </p:sp>
      <p:sp>
        <p:nvSpPr>
          <p:cNvPr name="TextBox 29" id="29"/>
          <p:cNvSpPr txBox="true"/>
          <p:nvPr/>
        </p:nvSpPr>
        <p:spPr>
          <a:xfrm rot="0">
            <a:off x="17067589" y="5602234"/>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sp>
        <p:nvSpPr>
          <p:cNvPr name="TextBox 30" id="30"/>
          <p:cNvSpPr txBox="true"/>
          <p:nvPr/>
        </p:nvSpPr>
        <p:spPr>
          <a:xfrm rot="0">
            <a:off x="17199915" y="7067066"/>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sp>
        <p:nvSpPr>
          <p:cNvPr name="TextBox 31" id="31"/>
          <p:cNvSpPr txBox="true"/>
          <p:nvPr/>
        </p:nvSpPr>
        <p:spPr>
          <a:xfrm rot="0">
            <a:off x="17199915" y="4241091"/>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sp>
        <p:nvSpPr>
          <p:cNvPr name="TextBox 32" id="32"/>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grpSp>
        <p:nvGrpSpPr>
          <p:cNvPr name="Group 33" id="33"/>
          <p:cNvGrpSpPr/>
          <p:nvPr/>
        </p:nvGrpSpPr>
        <p:grpSpPr>
          <a:xfrm rot="0">
            <a:off x="660217" y="4110591"/>
            <a:ext cx="807119" cy="80711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6" id="36"/>
          <p:cNvGrpSpPr/>
          <p:nvPr/>
        </p:nvGrpSpPr>
        <p:grpSpPr>
          <a:xfrm rot="5400000">
            <a:off x="912964" y="4382190"/>
            <a:ext cx="301625" cy="263922"/>
            <a:chOff x="0" y="0"/>
            <a:chExt cx="812800" cy="711200"/>
          </a:xfrm>
        </p:grpSpPr>
        <p:sp>
          <p:nvSpPr>
            <p:cNvPr name="Freeform 37" id="3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38" id="38"/>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grpSp>
        <p:nvGrpSpPr>
          <p:cNvPr name="Group 39" id="39"/>
          <p:cNvGrpSpPr/>
          <p:nvPr/>
        </p:nvGrpSpPr>
        <p:grpSpPr>
          <a:xfrm rot="0">
            <a:off x="660217" y="6759741"/>
            <a:ext cx="807119" cy="807119"/>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42" id="42"/>
          <p:cNvGrpSpPr/>
          <p:nvPr/>
        </p:nvGrpSpPr>
        <p:grpSpPr>
          <a:xfrm rot="5400000">
            <a:off x="912964" y="7031339"/>
            <a:ext cx="301625" cy="263922"/>
            <a:chOff x="0" y="0"/>
            <a:chExt cx="812800" cy="711200"/>
          </a:xfrm>
        </p:grpSpPr>
        <p:sp>
          <p:nvSpPr>
            <p:cNvPr name="Freeform 43" id="4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FFFFF"/>
            </a:solidFill>
          </p:spPr>
        </p:sp>
        <p:sp>
          <p:nvSpPr>
            <p:cNvPr name="TextBox 44" id="44"/>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184083">
            <a:off x="6921658" y="6179923"/>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2">
              <a:alphaModFix amt="19999"/>
            </a:blip>
            <a:stretch>
              <a:fillRect l="0" t="0" r="0" b="0"/>
            </a:stretch>
          </a:blipFill>
        </p:spPr>
      </p:sp>
      <p:grpSp>
        <p:nvGrpSpPr>
          <p:cNvPr name="Group 3" id="3"/>
          <p:cNvGrpSpPr/>
          <p:nvPr/>
        </p:nvGrpSpPr>
        <p:grpSpPr>
          <a:xfrm rot="0">
            <a:off x="8063558" y="2797322"/>
            <a:ext cx="8996859" cy="6748412"/>
            <a:chOff x="0" y="0"/>
            <a:chExt cx="4859732" cy="3645214"/>
          </a:xfrm>
        </p:grpSpPr>
        <p:sp>
          <p:nvSpPr>
            <p:cNvPr name="Freeform 4" id="4"/>
            <p:cNvSpPr/>
            <p:nvPr/>
          </p:nvSpPr>
          <p:spPr>
            <a:xfrm flipH="false" flipV="false" rot="0">
              <a:off x="0" y="0"/>
              <a:ext cx="4859732" cy="3645214"/>
            </a:xfrm>
            <a:custGeom>
              <a:avLst/>
              <a:gdLst/>
              <a:ahLst/>
              <a:cxnLst/>
              <a:rect r="r" b="b" t="t" l="l"/>
              <a:pathLst>
                <a:path h="3645214" w="4859732">
                  <a:moveTo>
                    <a:pt x="24068" y="0"/>
                  </a:moveTo>
                  <a:lnTo>
                    <a:pt x="4835665" y="0"/>
                  </a:lnTo>
                  <a:cubicBezTo>
                    <a:pt x="4848957" y="0"/>
                    <a:pt x="4859732" y="10775"/>
                    <a:pt x="4859732" y="24068"/>
                  </a:cubicBezTo>
                  <a:lnTo>
                    <a:pt x="4859732" y="3621146"/>
                  </a:lnTo>
                  <a:cubicBezTo>
                    <a:pt x="4859732" y="3634438"/>
                    <a:pt x="4848957" y="3645214"/>
                    <a:pt x="4835665" y="3645214"/>
                  </a:cubicBezTo>
                  <a:lnTo>
                    <a:pt x="24068" y="3645214"/>
                  </a:lnTo>
                  <a:cubicBezTo>
                    <a:pt x="10775" y="3645214"/>
                    <a:pt x="0" y="3634438"/>
                    <a:pt x="0" y="3621146"/>
                  </a:cubicBezTo>
                  <a:lnTo>
                    <a:pt x="0" y="24068"/>
                  </a:lnTo>
                  <a:cubicBezTo>
                    <a:pt x="0" y="10775"/>
                    <a:pt x="10775" y="0"/>
                    <a:pt x="24068" y="0"/>
                  </a:cubicBezTo>
                  <a:close/>
                </a:path>
              </a:pathLst>
            </a:custGeom>
            <a:solidFill>
              <a:srgbClr val="000000"/>
            </a:solidFill>
            <a:ln w="19050" cap="rnd">
              <a:gradFill>
                <a:gsLst>
                  <a:gs pos="0">
                    <a:srgbClr val="B900BC">
                      <a:alpha val="100000"/>
                    </a:srgbClr>
                  </a:gs>
                  <a:gs pos="100000">
                    <a:srgbClr val="009CFF">
                      <a:alpha val="100000"/>
                    </a:srgbClr>
                  </a:gs>
                </a:gsLst>
                <a:lin ang="0"/>
              </a:gradFill>
              <a:prstDash val="solid"/>
              <a:round/>
            </a:ln>
          </p:spPr>
        </p:sp>
        <p:sp>
          <p:nvSpPr>
            <p:cNvPr name="TextBox 5" id="5"/>
            <p:cNvSpPr txBox="true"/>
            <p:nvPr/>
          </p:nvSpPr>
          <p:spPr>
            <a:xfrm>
              <a:off x="0" y="-38100"/>
              <a:ext cx="4859732" cy="368331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0" y="1396285"/>
            <a:ext cx="8063558" cy="9243894"/>
          </a:xfrm>
          <a:custGeom>
            <a:avLst/>
            <a:gdLst/>
            <a:ahLst/>
            <a:cxnLst/>
            <a:rect r="r" b="b" t="t" l="l"/>
            <a:pathLst>
              <a:path h="9243894" w="8063558">
                <a:moveTo>
                  <a:pt x="0" y="0"/>
                </a:moveTo>
                <a:lnTo>
                  <a:pt x="8063558" y="0"/>
                </a:lnTo>
                <a:lnTo>
                  <a:pt x="8063558" y="9243893"/>
                </a:lnTo>
                <a:lnTo>
                  <a:pt x="0" y="9243893"/>
                </a:lnTo>
                <a:lnTo>
                  <a:pt x="0" y="0"/>
                </a:lnTo>
                <a:close/>
              </a:path>
            </a:pathLst>
          </a:custGeom>
          <a:blipFill>
            <a:blip r:embed="rId3"/>
            <a:stretch>
              <a:fillRect l="0" t="0" r="0" b="0"/>
            </a:stretch>
          </a:blipFill>
        </p:spPr>
      </p:sp>
      <p:sp>
        <p:nvSpPr>
          <p:cNvPr name="TextBox 7" id="7"/>
          <p:cNvSpPr txBox="true"/>
          <p:nvPr/>
        </p:nvSpPr>
        <p:spPr>
          <a:xfrm rot="0">
            <a:off x="1787784" y="448865"/>
            <a:ext cx="14429464" cy="1942465"/>
          </a:xfrm>
          <a:prstGeom prst="rect">
            <a:avLst/>
          </a:prstGeom>
        </p:spPr>
        <p:txBody>
          <a:bodyPr anchor="t" rtlCol="false" tIns="0" lIns="0" bIns="0" rIns="0">
            <a:spAutoFit/>
          </a:bodyPr>
          <a:lstStyle/>
          <a:p>
            <a:pPr algn="ctr">
              <a:lnSpc>
                <a:spcPts val="7279"/>
              </a:lnSpc>
            </a:pPr>
            <a:r>
              <a:rPr lang="en-US" sz="6999" b="true">
                <a:solidFill>
                  <a:srgbClr val="F4F4F4"/>
                </a:solidFill>
                <a:latin typeface="Poppins Bold"/>
                <a:ea typeface="Poppins Bold"/>
                <a:cs typeface="Poppins Bold"/>
                <a:sym typeface="Poppins Bold"/>
              </a:rPr>
              <a:t>Architecture globale du système</a:t>
            </a:r>
          </a:p>
        </p:txBody>
      </p:sp>
      <p:sp>
        <p:nvSpPr>
          <p:cNvPr name="TextBox 8" id="8"/>
          <p:cNvSpPr txBox="true"/>
          <p:nvPr/>
        </p:nvSpPr>
        <p:spPr>
          <a:xfrm rot="0">
            <a:off x="8063558" y="2868734"/>
            <a:ext cx="8725979" cy="6677000"/>
          </a:xfrm>
          <a:prstGeom prst="rect">
            <a:avLst/>
          </a:prstGeom>
        </p:spPr>
        <p:txBody>
          <a:bodyPr anchor="t" rtlCol="false" tIns="0" lIns="0" bIns="0" rIns="0">
            <a:spAutoFit/>
          </a:bodyPr>
          <a:lstStyle/>
          <a:p>
            <a:pPr algn="just" marL="431801" indent="-215900" lvl="1">
              <a:lnSpc>
                <a:spcPts val="3400"/>
              </a:lnSpc>
              <a:buFont typeface="Arial"/>
              <a:buChar char="•"/>
            </a:pPr>
            <a:r>
              <a:rPr lang="en-US" b="true" sz="2000">
                <a:solidFill>
                  <a:srgbClr val="D51D7F"/>
                </a:solidFill>
                <a:latin typeface="Poppins Bold"/>
                <a:ea typeface="Poppins Bold"/>
                <a:cs typeface="Poppins Bold"/>
                <a:sym typeface="Poppins Bold"/>
              </a:rPr>
              <a:t>GitLab CI/CD : </a:t>
            </a:r>
            <a:r>
              <a:rPr lang="en-US" sz="2000">
                <a:solidFill>
                  <a:srgbClr val="FFFFFF"/>
                </a:solidFill>
                <a:latin typeface="Poppins"/>
                <a:ea typeface="Poppins"/>
                <a:cs typeface="Poppins"/>
                <a:sym typeface="Poppins"/>
              </a:rPr>
              <a:t>automatise le pipeline en déclenchant les étapes de build, test et déploiement à chaque modification du code.</a:t>
            </a:r>
          </a:p>
          <a:p>
            <a:pPr algn="just">
              <a:lnSpc>
                <a:spcPts val="1020"/>
              </a:lnSpc>
            </a:pPr>
          </a:p>
          <a:p>
            <a:pPr algn="just" marL="431801" indent="-215900" lvl="1">
              <a:lnSpc>
                <a:spcPts val="3400"/>
              </a:lnSpc>
              <a:buFont typeface="Arial"/>
              <a:buChar char="•"/>
            </a:pPr>
            <a:r>
              <a:rPr lang="en-US" b="true" sz="2000">
                <a:solidFill>
                  <a:srgbClr val="D51D7F"/>
                </a:solidFill>
                <a:latin typeface="Poppins Bold"/>
                <a:ea typeface="Poppins Bold"/>
                <a:cs typeface="Poppins Bold"/>
                <a:sym typeface="Poppins Bold"/>
              </a:rPr>
              <a:t>Docker &amp; Docker Hub :</a:t>
            </a:r>
            <a:r>
              <a:rPr lang="en-US" sz="2000">
                <a:solidFill>
                  <a:srgbClr val="D51D7F"/>
                </a:solidFill>
                <a:latin typeface="Poppins"/>
                <a:ea typeface="Poppins"/>
                <a:cs typeface="Poppins"/>
                <a:sym typeface="Poppins"/>
              </a:rPr>
              <a:t> </a:t>
            </a:r>
            <a:r>
              <a:rPr lang="en-US" sz="2000">
                <a:solidFill>
                  <a:srgbClr val="FFFFFF"/>
                </a:solidFill>
                <a:latin typeface="Poppins"/>
                <a:ea typeface="Poppins"/>
                <a:cs typeface="Poppins"/>
                <a:sym typeface="Poppins"/>
              </a:rPr>
              <a:t>assurent la conteneurisation de l’application et le stockage des images pour faciliter le déploiement.</a:t>
            </a:r>
          </a:p>
          <a:p>
            <a:pPr algn="just">
              <a:lnSpc>
                <a:spcPts val="1019"/>
              </a:lnSpc>
            </a:pPr>
          </a:p>
          <a:p>
            <a:pPr algn="just" marL="431801" indent="-215900" lvl="1">
              <a:lnSpc>
                <a:spcPts val="3400"/>
              </a:lnSpc>
              <a:buFont typeface="Arial"/>
              <a:buChar char="•"/>
            </a:pPr>
            <a:r>
              <a:rPr lang="en-US" b="true" sz="2000">
                <a:solidFill>
                  <a:srgbClr val="D51D7F"/>
                </a:solidFill>
                <a:latin typeface="Poppins Bold"/>
                <a:ea typeface="Poppins Bold"/>
                <a:cs typeface="Poppins Bold"/>
                <a:sym typeface="Poppins Bold"/>
              </a:rPr>
              <a:t>Kubernetes (k3s) :</a:t>
            </a:r>
            <a:r>
              <a:rPr lang="en-US" sz="2000">
                <a:solidFill>
                  <a:srgbClr val="D51D7F"/>
                </a:solidFill>
                <a:latin typeface="Poppins"/>
                <a:ea typeface="Poppins"/>
                <a:cs typeface="Poppins"/>
                <a:sym typeface="Poppins"/>
              </a:rPr>
              <a:t> </a:t>
            </a:r>
            <a:r>
              <a:rPr lang="en-US" sz="2000">
                <a:solidFill>
                  <a:srgbClr val="FFFFFF"/>
                </a:solidFill>
                <a:latin typeface="Poppins"/>
                <a:ea typeface="Poppins"/>
                <a:cs typeface="Poppins"/>
                <a:sym typeface="Poppins"/>
              </a:rPr>
              <a:t>orchestre les conteneurs en gérant les pods, la scalabilité et la disponibilité de l’application.</a:t>
            </a:r>
          </a:p>
          <a:p>
            <a:pPr algn="just">
              <a:lnSpc>
                <a:spcPts val="1019"/>
              </a:lnSpc>
            </a:pPr>
          </a:p>
          <a:p>
            <a:pPr algn="just" marL="431801" indent="-215900" lvl="1">
              <a:lnSpc>
                <a:spcPts val="3400"/>
              </a:lnSpc>
              <a:buFont typeface="Arial"/>
              <a:buChar char="•"/>
            </a:pPr>
            <a:r>
              <a:rPr lang="en-US" b="true" sz="2000">
                <a:solidFill>
                  <a:srgbClr val="D51D7F"/>
                </a:solidFill>
                <a:latin typeface="Poppins Bold"/>
                <a:ea typeface="Poppins Bold"/>
                <a:cs typeface="Poppins Bold"/>
                <a:sym typeface="Poppins Bold"/>
              </a:rPr>
              <a:t>Architecture Master / Worker :</a:t>
            </a:r>
            <a:r>
              <a:rPr lang="en-US" sz="2000">
                <a:solidFill>
                  <a:srgbClr val="FFFFFF"/>
                </a:solidFill>
                <a:latin typeface="Poppins"/>
                <a:ea typeface="Poppins"/>
                <a:cs typeface="Poppins"/>
                <a:sym typeface="Poppins"/>
              </a:rPr>
              <a:t> sépare le contrôle du cluster (Master) et l’exécution des pods (Worker) pour plus de stabilité.</a:t>
            </a:r>
          </a:p>
          <a:p>
            <a:pPr algn="just">
              <a:lnSpc>
                <a:spcPts val="1019"/>
              </a:lnSpc>
            </a:pPr>
          </a:p>
          <a:p>
            <a:pPr algn="just" marL="431801" indent="-215900" lvl="1">
              <a:lnSpc>
                <a:spcPts val="3400"/>
              </a:lnSpc>
              <a:buFont typeface="Arial"/>
              <a:buChar char="•"/>
            </a:pPr>
            <a:r>
              <a:rPr lang="en-US" b="true" sz="2000">
                <a:solidFill>
                  <a:srgbClr val="D51D7F"/>
                </a:solidFill>
                <a:latin typeface="Poppins Bold"/>
                <a:ea typeface="Poppins Bold"/>
                <a:cs typeface="Poppins Bold"/>
                <a:sym typeface="Poppins Bold"/>
              </a:rPr>
              <a:t>Terraform &amp; Ansible :</a:t>
            </a:r>
            <a:r>
              <a:rPr lang="en-US" sz="2000">
                <a:solidFill>
                  <a:srgbClr val="FFFFFF"/>
                </a:solidFill>
                <a:latin typeface="Poppins"/>
                <a:ea typeface="Poppins"/>
                <a:cs typeface="Poppins"/>
                <a:sym typeface="Poppins"/>
              </a:rPr>
              <a:t> automatisent la création et la configuration de l’infrastructure cloud.</a:t>
            </a:r>
          </a:p>
          <a:p>
            <a:pPr algn="just">
              <a:lnSpc>
                <a:spcPts val="1019"/>
              </a:lnSpc>
            </a:pPr>
          </a:p>
          <a:p>
            <a:pPr algn="just" marL="431801" indent="-215900" lvl="1">
              <a:lnSpc>
                <a:spcPts val="3400"/>
              </a:lnSpc>
              <a:buFont typeface="Arial"/>
              <a:buChar char="•"/>
            </a:pPr>
            <a:r>
              <a:rPr lang="en-US" b="true" sz="2000">
                <a:solidFill>
                  <a:srgbClr val="D51D7F"/>
                </a:solidFill>
                <a:latin typeface="Poppins Bold"/>
                <a:ea typeface="Poppins Bold"/>
                <a:cs typeface="Poppins Bold"/>
                <a:sym typeface="Poppins Bold"/>
              </a:rPr>
              <a:t>AWS &amp; accès utilisateur :</a:t>
            </a:r>
            <a:r>
              <a:rPr lang="en-US" b="true" sz="2000">
                <a:solidFill>
                  <a:srgbClr val="FFFFFF"/>
                </a:solidFill>
                <a:latin typeface="Poppins Bold"/>
                <a:ea typeface="Poppins Bold"/>
                <a:cs typeface="Poppins Bold"/>
                <a:sym typeface="Poppins Bold"/>
              </a:rPr>
              <a:t> </a:t>
            </a:r>
            <a:r>
              <a:rPr lang="en-US" sz="2000">
                <a:solidFill>
                  <a:srgbClr val="FFFFFF"/>
                </a:solidFill>
                <a:latin typeface="Poppins"/>
                <a:ea typeface="Poppins"/>
                <a:cs typeface="Poppins"/>
                <a:sym typeface="Poppins"/>
              </a:rPr>
              <a:t>héberge l’application et permet son accès via un Service NodePort depuis le navigateur.</a:t>
            </a:r>
          </a:p>
          <a:p>
            <a:pPr algn="just">
              <a:lnSpc>
                <a:spcPts val="3400"/>
              </a:lnSpc>
            </a:pPr>
          </a:p>
        </p:txBody>
      </p:sp>
      <p:sp>
        <p:nvSpPr>
          <p:cNvPr name="Freeform 9" id="9"/>
          <p:cNvSpPr/>
          <p:nvPr/>
        </p:nvSpPr>
        <p:spPr>
          <a:xfrm flipH="false" flipV="false" rot="-4564371">
            <a:off x="-2380327" y="-2964571"/>
            <a:ext cx="5755537" cy="6731622"/>
          </a:xfrm>
          <a:custGeom>
            <a:avLst/>
            <a:gdLst/>
            <a:ahLst/>
            <a:cxnLst/>
            <a:rect r="r" b="b" t="t" l="l"/>
            <a:pathLst>
              <a:path h="6731622" w="5755537">
                <a:moveTo>
                  <a:pt x="0" y="0"/>
                </a:moveTo>
                <a:lnTo>
                  <a:pt x="5755537" y="0"/>
                </a:lnTo>
                <a:lnTo>
                  <a:pt x="5755537" y="6731622"/>
                </a:lnTo>
                <a:lnTo>
                  <a:pt x="0" y="6731622"/>
                </a:lnTo>
                <a:lnTo>
                  <a:pt x="0" y="0"/>
                </a:lnTo>
                <a:close/>
              </a:path>
            </a:pathLst>
          </a:custGeom>
          <a:blipFill>
            <a:blip r:embed="rId4">
              <a:alphaModFix amt="49000"/>
            </a:blip>
            <a:stretch>
              <a:fillRect l="0" t="0" r="0" b="0"/>
            </a:stretch>
          </a:blipFill>
        </p:spPr>
      </p:sp>
      <p:grpSp>
        <p:nvGrpSpPr>
          <p:cNvPr name="Group 10" id="10"/>
          <p:cNvGrpSpPr/>
          <p:nvPr/>
        </p:nvGrpSpPr>
        <p:grpSpPr>
          <a:xfrm rot="0">
            <a:off x="17259300" y="5285180"/>
            <a:ext cx="1010230" cy="101023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2" id="12"/>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3" id="13"/>
          <p:cNvGrpSpPr/>
          <p:nvPr/>
        </p:nvGrpSpPr>
        <p:grpSpPr>
          <a:xfrm rot="0">
            <a:off x="17391627" y="6830494"/>
            <a:ext cx="745577" cy="7455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5" id="15"/>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6" id="16"/>
          <p:cNvGrpSpPr/>
          <p:nvPr/>
        </p:nvGrpSpPr>
        <p:grpSpPr>
          <a:xfrm rot="0">
            <a:off x="17391627" y="4004518"/>
            <a:ext cx="745577" cy="7455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8" id="18"/>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19" id="19"/>
          <p:cNvSpPr txBox="true"/>
          <p:nvPr/>
        </p:nvSpPr>
        <p:spPr>
          <a:xfrm rot="0">
            <a:off x="17259300" y="5611445"/>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sp>
        <p:nvSpPr>
          <p:cNvPr name="TextBox 20" id="20"/>
          <p:cNvSpPr txBox="true"/>
          <p:nvPr/>
        </p:nvSpPr>
        <p:spPr>
          <a:xfrm rot="0">
            <a:off x="17391627" y="7076277"/>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sp>
        <p:nvSpPr>
          <p:cNvPr name="TextBox 21" id="21"/>
          <p:cNvSpPr txBox="true"/>
          <p:nvPr/>
        </p:nvSpPr>
        <p:spPr>
          <a:xfrm rot="0">
            <a:off x="17391627" y="4250302"/>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9698" y="477967"/>
            <a:ext cx="18288000" cy="1172207"/>
          </a:xfrm>
          <a:prstGeom prst="rect">
            <a:avLst/>
          </a:prstGeom>
        </p:spPr>
        <p:txBody>
          <a:bodyPr anchor="t" rtlCol="false" tIns="0" lIns="0" bIns="0" rIns="0">
            <a:spAutoFit/>
          </a:bodyPr>
          <a:lstStyle/>
          <a:p>
            <a:pPr algn="l">
              <a:lnSpc>
                <a:spcPts val="8319"/>
              </a:lnSpc>
            </a:pPr>
            <a:r>
              <a:rPr lang="en-US" sz="7999" b="true">
                <a:solidFill>
                  <a:srgbClr val="FFFFFF"/>
                </a:solidFill>
                <a:latin typeface="Poppins Bold"/>
                <a:ea typeface="Poppins Bold"/>
                <a:cs typeface="Poppins Bold"/>
                <a:sym typeface="Poppins Bold"/>
              </a:rPr>
              <a:t>Conteneurisation avec </a:t>
            </a:r>
            <a:r>
              <a:rPr lang="en-US" sz="7999" b="true">
                <a:solidFill>
                  <a:srgbClr val="3147B9"/>
                </a:solidFill>
                <a:latin typeface="Poppins Bold"/>
                <a:ea typeface="Poppins Bold"/>
                <a:cs typeface="Poppins Bold"/>
                <a:sym typeface="Poppins Bold"/>
              </a:rPr>
              <a:t>Docker</a:t>
            </a:r>
          </a:p>
        </p:txBody>
      </p:sp>
      <p:sp>
        <p:nvSpPr>
          <p:cNvPr name="Freeform 3" id="3"/>
          <p:cNvSpPr/>
          <p:nvPr/>
        </p:nvSpPr>
        <p:spPr>
          <a:xfrm flipH="false" flipV="false" rot="0">
            <a:off x="16345270" y="396801"/>
            <a:ext cx="1463600" cy="1253374"/>
          </a:xfrm>
          <a:custGeom>
            <a:avLst/>
            <a:gdLst/>
            <a:ahLst/>
            <a:cxnLst/>
            <a:rect r="r" b="b" t="t" l="l"/>
            <a:pathLst>
              <a:path h="1253374" w="1463600">
                <a:moveTo>
                  <a:pt x="0" y="0"/>
                </a:moveTo>
                <a:lnTo>
                  <a:pt x="1463599" y="0"/>
                </a:lnTo>
                <a:lnTo>
                  <a:pt x="1463599" y="1253373"/>
                </a:lnTo>
                <a:lnTo>
                  <a:pt x="0" y="12533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79698" y="1950362"/>
            <a:ext cx="18008302" cy="1009650"/>
          </a:xfrm>
          <a:prstGeom prst="rect">
            <a:avLst/>
          </a:prstGeom>
        </p:spPr>
        <p:txBody>
          <a:bodyPr anchor="t" rtlCol="false" tIns="0" lIns="0" bIns="0" rIns="0">
            <a:spAutoFit/>
          </a:bodyPr>
          <a:lstStyle/>
          <a:p>
            <a:pPr algn="just">
              <a:lnSpc>
                <a:spcPts val="4079"/>
              </a:lnSpc>
            </a:pPr>
            <a:r>
              <a:rPr lang="en-US" sz="2399">
                <a:solidFill>
                  <a:srgbClr val="FFFFFF"/>
                </a:solidFill>
                <a:latin typeface="Poppins"/>
                <a:ea typeface="Poppins"/>
                <a:cs typeface="Poppins"/>
                <a:sym typeface="Poppins"/>
              </a:rPr>
              <a:t>Docker est une technologie qui permet de créer, déployer et exécuter des applications dans des conteneurs. On utilise Docker pour </a:t>
            </a:r>
            <a:r>
              <a:rPr lang="en-US" sz="2399">
                <a:solidFill>
                  <a:srgbClr val="FFFFFF"/>
                </a:solidFill>
                <a:latin typeface="Poppins"/>
                <a:ea typeface="Poppins"/>
                <a:cs typeface="Poppins"/>
                <a:sym typeface="Poppins"/>
              </a:rPr>
              <a:t>isoler les applications ,  éviter les bugs d’environnement et travailler en équipe sans problèmes .</a:t>
            </a:r>
          </a:p>
        </p:txBody>
      </p:sp>
      <p:sp>
        <p:nvSpPr>
          <p:cNvPr name="Freeform 5" id="5"/>
          <p:cNvSpPr/>
          <p:nvPr/>
        </p:nvSpPr>
        <p:spPr>
          <a:xfrm flipH="false" flipV="false" rot="-4564371">
            <a:off x="6280284" y="2902356"/>
            <a:ext cx="5755537" cy="6731622"/>
          </a:xfrm>
          <a:custGeom>
            <a:avLst/>
            <a:gdLst/>
            <a:ahLst/>
            <a:cxnLst/>
            <a:rect r="r" b="b" t="t" l="l"/>
            <a:pathLst>
              <a:path h="6731622" w="5755537">
                <a:moveTo>
                  <a:pt x="0" y="0"/>
                </a:moveTo>
                <a:lnTo>
                  <a:pt x="5755537" y="0"/>
                </a:lnTo>
                <a:lnTo>
                  <a:pt x="5755537" y="6731622"/>
                </a:lnTo>
                <a:lnTo>
                  <a:pt x="0" y="6731622"/>
                </a:lnTo>
                <a:lnTo>
                  <a:pt x="0" y="0"/>
                </a:lnTo>
                <a:close/>
              </a:path>
            </a:pathLst>
          </a:custGeom>
          <a:blipFill>
            <a:blip r:embed="rId4">
              <a:alphaModFix amt="49000"/>
            </a:blip>
            <a:stretch>
              <a:fillRect l="0" t="0" r="0" b="0"/>
            </a:stretch>
          </a:blipFill>
        </p:spPr>
      </p:sp>
      <p:sp>
        <p:nvSpPr>
          <p:cNvPr name="Freeform 6" id="6"/>
          <p:cNvSpPr/>
          <p:nvPr/>
        </p:nvSpPr>
        <p:spPr>
          <a:xfrm flipH="false" flipV="false" rot="0">
            <a:off x="1661590" y="5143500"/>
            <a:ext cx="4587462" cy="1189342"/>
          </a:xfrm>
          <a:custGeom>
            <a:avLst/>
            <a:gdLst/>
            <a:ahLst/>
            <a:cxnLst/>
            <a:rect r="r" b="b" t="t" l="l"/>
            <a:pathLst>
              <a:path h="1189342" w="4587462">
                <a:moveTo>
                  <a:pt x="0" y="0"/>
                </a:moveTo>
                <a:lnTo>
                  <a:pt x="4587462" y="0"/>
                </a:lnTo>
                <a:lnTo>
                  <a:pt x="4587462" y="1189342"/>
                </a:lnTo>
                <a:lnTo>
                  <a:pt x="0" y="1189342"/>
                </a:lnTo>
                <a:lnTo>
                  <a:pt x="0" y="0"/>
                </a:lnTo>
                <a:close/>
              </a:path>
            </a:pathLst>
          </a:custGeom>
          <a:blipFill>
            <a:blip r:embed="rId5"/>
            <a:stretch>
              <a:fillRect l="0" t="0" r="0" b="0"/>
            </a:stretch>
          </a:blipFill>
        </p:spPr>
      </p:sp>
      <p:grpSp>
        <p:nvGrpSpPr>
          <p:cNvPr name="Group 7" id="7"/>
          <p:cNvGrpSpPr/>
          <p:nvPr/>
        </p:nvGrpSpPr>
        <p:grpSpPr>
          <a:xfrm rot="0">
            <a:off x="1028700" y="3393551"/>
            <a:ext cx="6560782" cy="1917792"/>
            <a:chOff x="0" y="0"/>
            <a:chExt cx="8747709" cy="2557056"/>
          </a:xfrm>
        </p:grpSpPr>
        <p:sp>
          <p:nvSpPr>
            <p:cNvPr name="TextBox 8" id="8"/>
            <p:cNvSpPr txBox="true"/>
            <p:nvPr/>
          </p:nvSpPr>
          <p:spPr>
            <a:xfrm rot="0">
              <a:off x="0" y="28575"/>
              <a:ext cx="5318317" cy="427440"/>
            </a:xfrm>
            <a:prstGeom prst="rect">
              <a:avLst/>
            </a:prstGeom>
          </p:spPr>
          <p:txBody>
            <a:bodyPr anchor="t" rtlCol="false" tIns="0" lIns="0" bIns="0" rIns="0">
              <a:spAutoFit/>
            </a:bodyPr>
            <a:lstStyle/>
            <a:p>
              <a:pPr algn="ctr">
                <a:lnSpc>
                  <a:spcPts val="2391"/>
                </a:lnSpc>
                <a:spcBef>
                  <a:spcPct val="0"/>
                </a:spcBef>
              </a:pPr>
              <a:r>
                <a:rPr lang="en-US" b="true" sz="2299">
                  <a:solidFill>
                    <a:srgbClr val="C71F82"/>
                  </a:solidFill>
                  <a:latin typeface="Poppins Bold"/>
                  <a:ea typeface="Poppins Bold"/>
                  <a:cs typeface="Poppins Bold"/>
                  <a:sym typeface="Poppins Bold"/>
                </a:rPr>
                <a:t>1. Création du Dockerfile</a:t>
              </a:r>
            </a:p>
          </p:txBody>
        </p:sp>
        <p:sp>
          <p:nvSpPr>
            <p:cNvPr name="TextBox 9" id="9"/>
            <p:cNvSpPr txBox="true"/>
            <p:nvPr/>
          </p:nvSpPr>
          <p:spPr>
            <a:xfrm rot="0">
              <a:off x="227880" y="569506"/>
              <a:ext cx="8519830" cy="1987551"/>
            </a:xfrm>
            <a:prstGeom prst="rect">
              <a:avLst/>
            </a:prstGeom>
          </p:spPr>
          <p:txBody>
            <a:bodyPr anchor="t" rtlCol="false" tIns="0" lIns="0" bIns="0" rIns="0">
              <a:spAutoFit/>
            </a:bodyPr>
            <a:lstStyle/>
            <a:p>
              <a:pPr algn="just">
                <a:lnSpc>
                  <a:spcPts val="4079"/>
                </a:lnSpc>
              </a:pPr>
              <a:r>
                <a:rPr lang="en-US" sz="2399">
                  <a:solidFill>
                    <a:srgbClr val="FFFFFF"/>
                  </a:solidFill>
                  <a:latin typeface="Poppins"/>
                  <a:ea typeface="Poppins"/>
                  <a:cs typeface="Poppins"/>
                  <a:sym typeface="Poppins"/>
                </a:rPr>
                <a:t>Le Dockerfile est un fichier qui définit comment c</a:t>
              </a:r>
              <a:r>
                <a:rPr lang="en-US" sz="2399">
                  <a:solidFill>
                    <a:srgbClr val="FFFFFF"/>
                  </a:solidFill>
                  <a:latin typeface="Poppins"/>
                  <a:ea typeface="Poppins"/>
                  <a:cs typeface="Poppins"/>
                  <a:sym typeface="Poppins"/>
                </a:rPr>
                <a:t>onstruire l’image Docker.</a:t>
              </a:r>
            </a:p>
            <a:p>
              <a:pPr algn="just">
                <a:lnSpc>
                  <a:spcPts val="4079"/>
                </a:lnSpc>
              </a:pPr>
            </a:p>
          </p:txBody>
        </p:sp>
      </p:grpSp>
      <p:grpSp>
        <p:nvGrpSpPr>
          <p:cNvPr name="Group 10" id="10"/>
          <p:cNvGrpSpPr/>
          <p:nvPr/>
        </p:nvGrpSpPr>
        <p:grpSpPr>
          <a:xfrm rot="0">
            <a:off x="1028700" y="6989635"/>
            <a:ext cx="5853242" cy="2004568"/>
            <a:chOff x="0" y="0"/>
            <a:chExt cx="7804322" cy="2672758"/>
          </a:xfrm>
        </p:grpSpPr>
        <p:sp>
          <p:nvSpPr>
            <p:cNvPr name="TextBox 11" id="11"/>
            <p:cNvSpPr txBox="true"/>
            <p:nvPr/>
          </p:nvSpPr>
          <p:spPr>
            <a:xfrm rot="0">
              <a:off x="0" y="19050"/>
              <a:ext cx="7804322" cy="465074"/>
            </a:xfrm>
            <a:prstGeom prst="rect">
              <a:avLst/>
            </a:prstGeom>
          </p:spPr>
          <p:txBody>
            <a:bodyPr anchor="t" rtlCol="false" tIns="0" lIns="0" bIns="0" rIns="0">
              <a:spAutoFit/>
            </a:bodyPr>
            <a:lstStyle/>
            <a:p>
              <a:pPr algn="l" marL="518158" indent="-259079" lvl="1">
                <a:lnSpc>
                  <a:spcPts val="2495"/>
                </a:lnSpc>
                <a:spcBef>
                  <a:spcPct val="0"/>
                </a:spcBef>
                <a:buAutoNum type="arabicPeriod" startAt="1"/>
              </a:pPr>
              <a:r>
                <a:rPr lang="en-US" b="true" sz="2399">
                  <a:solidFill>
                    <a:srgbClr val="C71F82"/>
                  </a:solidFill>
                  <a:latin typeface="Poppins Bold"/>
                  <a:ea typeface="Poppins Bold"/>
                  <a:cs typeface="Poppins Bold"/>
                  <a:sym typeface="Poppins Bold"/>
                </a:rPr>
                <a:t>Construction de l’image Docker </a:t>
              </a:r>
            </a:p>
          </p:txBody>
        </p:sp>
        <p:sp>
          <p:nvSpPr>
            <p:cNvPr name="TextBox 12" id="12"/>
            <p:cNvSpPr txBox="true"/>
            <p:nvPr/>
          </p:nvSpPr>
          <p:spPr>
            <a:xfrm rot="0">
              <a:off x="242974" y="607949"/>
              <a:ext cx="6694818" cy="2064809"/>
            </a:xfrm>
            <a:prstGeom prst="rect">
              <a:avLst/>
            </a:prstGeom>
          </p:spPr>
          <p:txBody>
            <a:bodyPr anchor="t" rtlCol="false" tIns="0" lIns="0" bIns="0" rIns="0">
              <a:spAutoFit/>
            </a:bodyPr>
            <a:lstStyle/>
            <a:p>
              <a:pPr algn="just">
                <a:lnSpc>
                  <a:spcPts val="4249"/>
                </a:lnSpc>
              </a:pPr>
              <a:r>
                <a:rPr lang="en-US" sz="2499">
                  <a:solidFill>
                    <a:srgbClr val="FFFFFF"/>
                  </a:solidFill>
                  <a:latin typeface="Poppins"/>
                  <a:ea typeface="Poppins"/>
                  <a:cs typeface="Poppins"/>
                  <a:sym typeface="Poppins"/>
                </a:rPr>
                <a:t>Une fois le Dockerfile prêt, on c</a:t>
              </a:r>
              <a:r>
                <a:rPr lang="en-US" sz="2499">
                  <a:solidFill>
                    <a:srgbClr val="FFFFFF"/>
                  </a:solidFill>
                  <a:latin typeface="Poppins"/>
                  <a:ea typeface="Poppins"/>
                  <a:cs typeface="Poppins"/>
                  <a:sym typeface="Poppins"/>
                </a:rPr>
                <a:t>onstruit l’image qui contient l’application créée</a:t>
              </a:r>
            </a:p>
          </p:txBody>
        </p:sp>
      </p:grpSp>
      <p:grpSp>
        <p:nvGrpSpPr>
          <p:cNvPr name="Group 13" id="13"/>
          <p:cNvGrpSpPr/>
          <p:nvPr/>
        </p:nvGrpSpPr>
        <p:grpSpPr>
          <a:xfrm rot="0">
            <a:off x="10701825" y="3398163"/>
            <a:ext cx="5853242" cy="3990086"/>
            <a:chOff x="0" y="0"/>
            <a:chExt cx="7804322" cy="5320115"/>
          </a:xfrm>
        </p:grpSpPr>
        <p:sp>
          <p:nvSpPr>
            <p:cNvPr name="TextBox 14" id="14"/>
            <p:cNvSpPr txBox="true"/>
            <p:nvPr/>
          </p:nvSpPr>
          <p:spPr>
            <a:xfrm rot="0">
              <a:off x="0" y="28575"/>
              <a:ext cx="7804322" cy="427440"/>
            </a:xfrm>
            <a:prstGeom prst="rect">
              <a:avLst/>
            </a:prstGeom>
          </p:spPr>
          <p:txBody>
            <a:bodyPr anchor="t" rtlCol="false" tIns="0" lIns="0" bIns="0" rIns="0">
              <a:spAutoFit/>
            </a:bodyPr>
            <a:lstStyle/>
            <a:p>
              <a:pPr algn="l" marL="496569" indent="-248284" lvl="1">
                <a:lnSpc>
                  <a:spcPts val="2391"/>
                </a:lnSpc>
                <a:spcBef>
                  <a:spcPct val="0"/>
                </a:spcBef>
                <a:buAutoNum type="arabicPeriod" startAt="1"/>
              </a:pPr>
              <a:r>
                <a:rPr lang="en-US" b="true" sz="2299">
                  <a:solidFill>
                    <a:srgbClr val="C71F82"/>
                  </a:solidFill>
                  <a:latin typeface="Poppins Bold"/>
                  <a:ea typeface="Poppins Bold"/>
                  <a:cs typeface="Poppins Bold"/>
                  <a:sym typeface="Poppins Bold"/>
                </a:rPr>
                <a:t>Exécution du conteneur </a:t>
              </a:r>
            </a:p>
          </p:txBody>
        </p:sp>
        <p:sp>
          <p:nvSpPr>
            <p:cNvPr name="TextBox 15" id="15"/>
            <p:cNvSpPr txBox="true"/>
            <p:nvPr/>
          </p:nvSpPr>
          <p:spPr>
            <a:xfrm rot="0">
              <a:off x="242974" y="589365"/>
              <a:ext cx="7266325" cy="4730751"/>
            </a:xfrm>
            <a:prstGeom prst="rect">
              <a:avLst/>
            </a:prstGeom>
          </p:spPr>
          <p:txBody>
            <a:bodyPr anchor="t" rtlCol="false" tIns="0" lIns="0" bIns="0" rIns="0">
              <a:spAutoFit/>
            </a:bodyPr>
            <a:lstStyle/>
            <a:p>
              <a:pPr algn="just">
                <a:lnSpc>
                  <a:spcPts val="4079"/>
                </a:lnSpc>
              </a:pPr>
              <a:r>
                <a:rPr lang="en-US" sz="2399">
                  <a:solidFill>
                    <a:srgbClr val="FFFFFF"/>
                  </a:solidFill>
                  <a:latin typeface="Poppins"/>
                  <a:ea typeface="Poppins"/>
                  <a:cs typeface="Poppins"/>
                  <a:sym typeface="Poppins"/>
                </a:rPr>
                <a:t>Pour vérifier</a:t>
              </a:r>
              <a:r>
                <a:rPr lang="en-US" sz="2399">
                  <a:solidFill>
                    <a:srgbClr val="FFFFFF"/>
                  </a:solidFill>
                  <a:latin typeface="Poppins"/>
                  <a:ea typeface="Poppins"/>
                  <a:cs typeface="Poppins"/>
                  <a:sym typeface="Poppins"/>
                </a:rPr>
                <a:t> que l’application fonctionne correctement . Résultat :</a:t>
              </a:r>
            </a:p>
            <a:p>
              <a:pPr algn="just">
                <a:lnSpc>
                  <a:spcPts val="4079"/>
                </a:lnSpc>
              </a:pPr>
              <a:r>
                <a:rPr lang="en-US" sz="2399">
                  <a:solidFill>
                    <a:srgbClr val="FFFFFF"/>
                  </a:solidFill>
                  <a:latin typeface="Poppins"/>
                  <a:ea typeface="Poppins"/>
                  <a:cs typeface="Poppins"/>
                  <a:sym typeface="Poppins"/>
                </a:rPr>
                <a:t>L’application est accessible sur :</a:t>
              </a:r>
            </a:p>
            <a:p>
              <a:pPr algn="just">
                <a:lnSpc>
                  <a:spcPts val="4079"/>
                </a:lnSpc>
              </a:pPr>
              <a:r>
                <a:rPr lang="en-US" sz="2399">
                  <a:solidFill>
                    <a:srgbClr val="FFFFFF"/>
                  </a:solidFill>
                  <a:latin typeface="Poppins"/>
                  <a:ea typeface="Poppins"/>
                  <a:cs typeface="Poppins"/>
                  <a:sym typeface="Poppins"/>
                </a:rPr>
                <a:t>http://localhost:5000</a:t>
              </a:r>
            </a:p>
            <a:p>
              <a:pPr algn="just">
                <a:lnSpc>
                  <a:spcPts val="4079"/>
                </a:lnSpc>
              </a:pPr>
            </a:p>
            <a:p>
              <a:pPr algn="just">
                <a:lnSpc>
                  <a:spcPts val="4079"/>
                </a:lnSpc>
              </a:pPr>
            </a:p>
            <a:p>
              <a:pPr algn="just">
                <a:lnSpc>
                  <a:spcPts val="4079"/>
                </a:lnSpc>
              </a:pPr>
            </a:p>
          </p:txBody>
        </p:sp>
      </p:grpSp>
      <p:sp>
        <p:nvSpPr>
          <p:cNvPr name="Freeform 16" id="16"/>
          <p:cNvSpPr/>
          <p:nvPr/>
        </p:nvSpPr>
        <p:spPr>
          <a:xfrm flipH="false" flipV="false" rot="-4564371">
            <a:off x="10239793" y="6943785"/>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4">
              <a:alphaModFix amt="19999"/>
            </a:blip>
            <a:stretch>
              <a:fillRect l="0" t="0" r="0" b="0"/>
            </a:stretch>
          </a:blipFill>
        </p:spPr>
      </p:sp>
      <p:grpSp>
        <p:nvGrpSpPr>
          <p:cNvPr name="Group 17" id="17"/>
          <p:cNvGrpSpPr/>
          <p:nvPr/>
        </p:nvGrpSpPr>
        <p:grpSpPr>
          <a:xfrm rot="0">
            <a:off x="10701825" y="6456235"/>
            <a:ext cx="5853242" cy="3071368"/>
            <a:chOff x="0" y="0"/>
            <a:chExt cx="7804322" cy="4095158"/>
          </a:xfrm>
        </p:grpSpPr>
        <p:sp>
          <p:nvSpPr>
            <p:cNvPr name="TextBox 18" id="18"/>
            <p:cNvSpPr txBox="true"/>
            <p:nvPr/>
          </p:nvSpPr>
          <p:spPr>
            <a:xfrm rot="0">
              <a:off x="0" y="19050"/>
              <a:ext cx="7804322" cy="465074"/>
            </a:xfrm>
            <a:prstGeom prst="rect">
              <a:avLst/>
            </a:prstGeom>
          </p:spPr>
          <p:txBody>
            <a:bodyPr anchor="t" rtlCol="false" tIns="0" lIns="0" bIns="0" rIns="0">
              <a:spAutoFit/>
            </a:bodyPr>
            <a:lstStyle/>
            <a:p>
              <a:pPr algn="l" marL="518158" indent="-259079" lvl="1">
                <a:lnSpc>
                  <a:spcPts val="2495"/>
                </a:lnSpc>
                <a:spcBef>
                  <a:spcPct val="0"/>
                </a:spcBef>
                <a:buAutoNum type="arabicPeriod" startAt="1"/>
              </a:pPr>
              <a:r>
                <a:rPr lang="en-US" b="true" sz="2399">
                  <a:solidFill>
                    <a:srgbClr val="C71F82"/>
                  </a:solidFill>
                  <a:latin typeface="Poppins Bold"/>
                  <a:ea typeface="Poppins Bold"/>
                  <a:cs typeface="Poppins Bold"/>
                  <a:sym typeface="Poppins Bold"/>
                </a:rPr>
                <a:t>: Publication de l’image (Push)</a:t>
              </a:r>
            </a:p>
          </p:txBody>
        </p:sp>
        <p:sp>
          <p:nvSpPr>
            <p:cNvPr name="TextBox 19" id="19"/>
            <p:cNvSpPr txBox="true"/>
            <p:nvPr/>
          </p:nvSpPr>
          <p:spPr>
            <a:xfrm rot="0">
              <a:off x="242974" y="607949"/>
              <a:ext cx="7561348" cy="3487209"/>
            </a:xfrm>
            <a:prstGeom prst="rect">
              <a:avLst/>
            </a:prstGeom>
          </p:spPr>
          <p:txBody>
            <a:bodyPr anchor="t" rtlCol="false" tIns="0" lIns="0" bIns="0" rIns="0">
              <a:spAutoFit/>
            </a:bodyPr>
            <a:lstStyle/>
            <a:p>
              <a:pPr algn="just">
                <a:lnSpc>
                  <a:spcPts val="4249"/>
                </a:lnSpc>
              </a:pPr>
              <a:r>
                <a:rPr lang="en-US" sz="2499">
                  <a:solidFill>
                    <a:srgbClr val="FFFFFF"/>
                  </a:solidFill>
                  <a:latin typeface="Poppins"/>
                  <a:ea typeface="Poppins"/>
                  <a:cs typeface="Poppins"/>
                  <a:sym typeface="Poppins"/>
                </a:rPr>
                <a:t>L’image est stockée sur Docker Hub . Elle peut ê</a:t>
              </a:r>
              <a:r>
                <a:rPr lang="en-US" sz="2499">
                  <a:solidFill>
                    <a:srgbClr val="FFFFFF"/>
                  </a:solidFill>
                  <a:latin typeface="Poppins"/>
                  <a:ea typeface="Poppins"/>
                  <a:cs typeface="Poppins"/>
                  <a:sym typeface="Poppins"/>
                </a:rPr>
                <a:t>tre utilisée dans :</a:t>
              </a:r>
            </a:p>
            <a:p>
              <a:pPr algn="just" marL="539748" indent="-269874" lvl="1">
                <a:lnSpc>
                  <a:spcPts val="4249"/>
                </a:lnSpc>
                <a:buFont typeface="Arial"/>
                <a:buChar char="•"/>
              </a:pPr>
              <a:r>
                <a:rPr lang="en-US" sz="2499">
                  <a:solidFill>
                    <a:srgbClr val="FFFFFF"/>
                  </a:solidFill>
                  <a:latin typeface="Poppins"/>
                  <a:ea typeface="Poppins"/>
                  <a:cs typeface="Poppins"/>
                  <a:sym typeface="Poppins"/>
                </a:rPr>
                <a:t>CI/CD (GitLab)</a:t>
              </a:r>
            </a:p>
            <a:p>
              <a:pPr algn="just" marL="539748" indent="-269874" lvl="1">
                <a:lnSpc>
                  <a:spcPts val="4249"/>
                </a:lnSpc>
                <a:buFont typeface="Arial"/>
                <a:buChar char="•"/>
              </a:pPr>
              <a:r>
                <a:rPr lang="en-US" sz="2499">
                  <a:solidFill>
                    <a:srgbClr val="FFFFFF"/>
                  </a:solidFill>
                  <a:latin typeface="Poppins"/>
                  <a:ea typeface="Poppins"/>
                  <a:cs typeface="Poppins"/>
                  <a:sym typeface="Poppins"/>
                </a:rPr>
                <a:t>Kubernetes</a:t>
              </a:r>
            </a:p>
            <a:p>
              <a:pPr algn="just">
                <a:lnSpc>
                  <a:spcPts val="4249"/>
                </a:lnSpc>
              </a:pPr>
            </a:p>
          </p:txBody>
        </p:sp>
      </p:grpSp>
      <p:sp>
        <p:nvSpPr>
          <p:cNvPr name="Freeform 20" id="20"/>
          <p:cNvSpPr/>
          <p:nvPr/>
        </p:nvSpPr>
        <p:spPr>
          <a:xfrm flipH="false" flipV="false" rot="-4564371">
            <a:off x="15410232" y="705060"/>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6">
              <a:alphaModFix amt="49000"/>
            </a:blip>
            <a:stretch>
              <a:fillRect l="0" t="0" r="0" b="0"/>
            </a:stretch>
          </a:blipFill>
        </p:spPr>
      </p:sp>
      <p:sp>
        <p:nvSpPr>
          <p:cNvPr name="TextBox 21" id="21"/>
          <p:cNvSpPr txBox="true"/>
          <p:nvPr/>
        </p:nvSpPr>
        <p:spPr>
          <a:xfrm rot="0">
            <a:off x="5865435" y="9512671"/>
            <a:ext cx="6557129"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Application conteneurisée et prête pour Kubernetes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11665" y="2807172"/>
            <a:ext cx="7487119" cy="1134897"/>
            <a:chOff x="0" y="0"/>
            <a:chExt cx="9982825" cy="1513196"/>
          </a:xfrm>
        </p:grpSpPr>
        <p:grpSp>
          <p:nvGrpSpPr>
            <p:cNvPr name="Group 3" id="3"/>
            <p:cNvGrpSpPr/>
            <p:nvPr/>
          </p:nvGrpSpPr>
          <p:grpSpPr>
            <a:xfrm rot="0">
              <a:off x="0" y="0"/>
              <a:ext cx="994102" cy="99410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5" id="5"/>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Freeform 6" id="6"/>
            <p:cNvSpPr/>
            <p:nvPr/>
          </p:nvSpPr>
          <p:spPr>
            <a:xfrm flipH="false" flipV="false" rot="0">
              <a:off x="314307" y="315968"/>
              <a:ext cx="365488" cy="362165"/>
            </a:xfrm>
            <a:custGeom>
              <a:avLst/>
              <a:gdLst/>
              <a:ahLst/>
              <a:cxnLst/>
              <a:rect r="r" b="b" t="t" l="l"/>
              <a:pathLst>
                <a:path h="362165" w="365488">
                  <a:moveTo>
                    <a:pt x="0" y="0"/>
                  </a:moveTo>
                  <a:lnTo>
                    <a:pt x="365488" y="0"/>
                  </a:lnTo>
                  <a:lnTo>
                    <a:pt x="365488" y="362166"/>
                  </a:lnTo>
                  <a:lnTo>
                    <a:pt x="0" y="3621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429168" y="415705"/>
              <a:ext cx="7171204" cy="1097491"/>
            </a:xfrm>
            <a:prstGeom prst="rect">
              <a:avLst/>
            </a:prstGeom>
          </p:spPr>
          <p:txBody>
            <a:bodyPr anchor="t" rtlCol="false" tIns="0" lIns="0" bIns="0" rIns="0">
              <a:spAutoFit/>
            </a:bodyPr>
            <a:lstStyle/>
            <a:p>
              <a:pPr algn="just">
                <a:lnSpc>
                  <a:spcPts val="3400"/>
                </a:lnSpc>
              </a:pPr>
              <a:r>
                <a:rPr lang="en-US" sz="2000">
                  <a:solidFill>
                    <a:srgbClr val="F4F4F4"/>
                  </a:solidFill>
                  <a:latin typeface="Poppins"/>
                  <a:ea typeface="Poppins"/>
                  <a:cs typeface="Poppins"/>
                  <a:sym typeface="Poppins"/>
                </a:rPr>
                <a:t>un outil qui permet de créer et gérer l’infrastructure cloud de façon déclarative.</a:t>
              </a:r>
            </a:p>
          </p:txBody>
        </p:sp>
        <p:sp>
          <p:nvSpPr>
            <p:cNvPr name="TextBox 8" id="8"/>
            <p:cNvSpPr txBox="true"/>
            <p:nvPr/>
          </p:nvSpPr>
          <p:spPr>
            <a:xfrm rot="0">
              <a:off x="1429168" y="-57150"/>
              <a:ext cx="8553657" cy="459317"/>
            </a:xfrm>
            <a:prstGeom prst="rect">
              <a:avLst/>
            </a:prstGeom>
          </p:spPr>
          <p:txBody>
            <a:bodyPr anchor="t" rtlCol="false" tIns="0" lIns="0" bIns="0" rIns="0">
              <a:spAutoFit/>
            </a:bodyPr>
            <a:lstStyle/>
            <a:p>
              <a:pPr algn="just">
                <a:lnSpc>
                  <a:spcPts val="2799"/>
                </a:lnSpc>
                <a:spcBef>
                  <a:spcPct val="0"/>
                </a:spcBef>
              </a:pPr>
              <a:r>
                <a:rPr lang="en-US" b="true" sz="1999">
                  <a:solidFill>
                    <a:srgbClr val="F4F4F4"/>
                  </a:solidFill>
                  <a:latin typeface="Poppins Bold"/>
                  <a:ea typeface="Poppins Bold"/>
                  <a:cs typeface="Poppins Bold"/>
                  <a:sym typeface="Poppins Bold"/>
                </a:rPr>
                <a:t>Terraform – Provisionnement de l’infrastructure</a:t>
              </a:r>
            </a:p>
          </p:txBody>
        </p:sp>
      </p:grpSp>
      <p:sp>
        <p:nvSpPr>
          <p:cNvPr name="Freeform 9" id="9"/>
          <p:cNvSpPr/>
          <p:nvPr/>
        </p:nvSpPr>
        <p:spPr>
          <a:xfrm flipH="false" flipV="false" rot="0">
            <a:off x="2728493" y="4258463"/>
            <a:ext cx="436765" cy="495300"/>
          </a:xfrm>
          <a:custGeom>
            <a:avLst/>
            <a:gdLst/>
            <a:ahLst/>
            <a:cxnLst/>
            <a:rect r="r" b="b" t="t" l="l"/>
            <a:pathLst>
              <a:path h="495300" w="436765">
                <a:moveTo>
                  <a:pt x="0" y="0"/>
                </a:moveTo>
                <a:lnTo>
                  <a:pt x="436765" y="0"/>
                </a:lnTo>
                <a:lnTo>
                  <a:pt x="436765" y="495300"/>
                </a:lnTo>
                <a:lnTo>
                  <a:pt x="0" y="495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42932" y="368279"/>
            <a:ext cx="18288000" cy="1018540"/>
          </a:xfrm>
          <a:prstGeom prst="rect">
            <a:avLst/>
          </a:prstGeom>
        </p:spPr>
        <p:txBody>
          <a:bodyPr anchor="t" rtlCol="false" tIns="0" lIns="0" bIns="0" rIns="0">
            <a:spAutoFit/>
          </a:bodyPr>
          <a:lstStyle/>
          <a:p>
            <a:pPr algn="ctr">
              <a:lnSpc>
                <a:spcPts val="7279"/>
              </a:lnSpc>
            </a:pPr>
            <a:r>
              <a:rPr lang="en-US" sz="6999" b="true">
                <a:solidFill>
                  <a:srgbClr val="3147B9"/>
                </a:solidFill>
                <a:latin typeface="Poppins Bold"/>
                <a:ea typeface="Poppins Bold"/>
                <a:cs typeface="Poppins Bold"/>
                <a:sym typeface="Poppins Bold"/>
              </a:rPr>
              <a:t>Infrastructure as Code (IaC)</a:t>
            </a:r>
          </a:p>
        </p:txBody>
      </p:sp>
      <p:sp>
        <p:nvSpPr>
          <p:cNvPr name="TextBox 11" id="11"/>
          <p:cNvSpPr txBox="true"/>
          <p:nvPr/>
        </p:nvSpPr>
        <p:spPr>
          <a:xfrm rot="0">
            <a:off x="0" y="1780488"/>
            <a:ext cx="18288000" cy="313436"/>
          </a:xfrm>
          <a:prstGeom prst="rect">
            <a:avLst/>
          </a:prstGeom>
        </p:spPr>
        <p:txBody>
          <a:bodyPr anchor="t" rtlCol="false" tIns="0" lIns="0" bIns="0" rIns="0">
            <a:spAutoFit/>
          </a:bodyPr>
          <a:lstStyle/>
          <a:p>
            <a:pPr algn="ctr">
              <a:lnSpc>
                <a:spcPts val="2391"/>
              </a:lnSpc>
              <a:spcBef>
                <a:spcPct val="0"/>
              </a:spcBef>
            </a:pPr>
            <a:r>
              <a:rPr lang="en-US" b="true" sz="2299">
                <a:solidFill>
                  <a:srgbClr val="FFFFFF"/>
                </a:solidFill>
                <a:latin typeface="Poppins Bold"/>
                <a:ea typeface="Poppins Bold"/>
                <a:cs typeface="Poppins Bold"/>
                <a:sym typeface="Poppins Bold"/>
              </a:rPr>
              <a:t>L’Infrastructure as Code (IaC) consiste à gérer et provisionner l’infrastructure via du code plutôt que manuellement.</a:t>
            </a:r>
          </a:p>
        </p:txBody>
      </p:sp>
      <p:sp>
        <p:nvSpPr>
          <p:cNvPr name="TextBox 12" id="12"/>
          <p:cNvSpPr txBox="true"/>
          <p:nvPr/>
        </p:nvSpPr>
        <p:spPr>
          <a:xfrm rot="0">
            <a:off x="1436180" y="4930599"/>
            <a:ext cx="6462604" cy="1565910"/>
          </a:xfrm>
          <a:prstGeom prst="rect">
            <a:avLst/>
          </a:prstGeom>
        </p:spPr>
        <p:txBody>
          <a:bodyPr anchor="t" rtlCol="false" tIns="0" lIns="0" bIns="0" rIns="0">
            <a:spAutoFit/>
          </a:bodyPr>
          <a:lstStyle/>
          <a:p>
            <a:pPr algn="just">
              <a:lnSpc>
                <a:spcPts val="3119"/>
              </a:lnSpc>
            </a:pPr>
            <a:r>
              <a:rPr lang="en-US" sz="1999">
                <a:solidFill>
                  <a:srgbClr val="FFFFFF"/>
                </a:solidFill>
                <a:latin typeface="Poppins"/>
                <a:ea typeface="Poppins"/>
                <a:cs typeface="Poppins"/>
                <a:sym typeface="Poppins"/>
              </a:rPr>
              <a:t>Fichier central de Terraform contenant  :</a:t>
            </a:r>
          </a:p>
          <a:p>
            <a:pPr algn="just">
              <a:lnSpc>
                <a:spcPts val="3119"/>
              </a:lnSpc>
            </a:pPr>
            <a:r>
              <a:rPr lang="en-US" sz="1999">
                <a:solidFill>
                  <a:srgbClr val="FFFFFF"/>
                </a:solidFill>
                <a:latin typeface="Poppins"/>
                <a:ea typeface="Poppins"/>
                <a:cs typeface="Poppins"/>
                <a:sym typeface="Poppins"/>
              </a:rPr>
              <a:t>Définition des instances EC2 </a:t>
            </a:r>
          </a:p>
          <a:p>
            <a:pPr algn="just">
              <a:lnSpc>
                <a:spcPts val="3119"/>
              </a:lnSpc>
            </a:pPr>
            <a:r>
              <a:rPr lang="en-US" sz="1999">
                <a:solidFill>
                  <a:srgbClr val="FFFFFF"/>
                </a:solidFill>
                <a:latin typeface="Poppins"/>
                <a:ea typeface="Poppins"/>
                <a:cs typeface="Poppins"/>
                <a:sym typeface="Poppins"/>
              </a:rPr>
              <a:t>Configuration des Security Groups</a:t>
            </a:r>
          </a:p>
          <a:p>
            <a:pPr algn="just">
              <a:lnSpc>
                <a:spcPts val="3119"/>
              </a:lnSpc>
            </a:pPr>
            <a:r>
              <a:rPr lang="en-US" sz="1999">
                <a:solidFill>
                  <a:srgbClr val="FFFFFF"/>
                </a:solidFill>
                <a:latin typeface="Poppins"/>
                <a:ea typeface="Poppins"/>
                <a:cs typeface="Poppins"/>
                <a:sym typeface="Poppins"/>
              </a:rPr>
              <a:t>Gestion des clés SSH</a:t>
            </a:r>
          </a:p>
        </p:txBody>
      </p:sp>
      <p:sp>
        <p:nvSpPr>
          <p:cNvPr name="TextBox 13" id="13"/>
          <p:cNvSpPr txBox="true"/>
          <p:nvPr/>
        </p:nvSpPr>
        <p:spPr>
          <a:xfrm rot="0">
            <a:off x="1436180" y="4298150"/>
            <a:ext cx="887730" cy="358775"/>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main.tf</a:t>
            </a:r>
          </a:p>
        </p:txBody>
      </p:sp>
      <p:grpSp>
        <p:nvGrpSpPr>
          <p:cNvPr name="Group 14" id="14"/>
          <p:cNvGrpSpPr/>
          <p:nvPr/>
        </p:nvGrpSpPr>
        <p:grpSpPr>
          <a:xfrm rot="0">
            <a:off x="1436180" y="6772735"/>
            <a:ext cx="2064609" cy="829106"/>
            <a:chOff x="0" y="0"/>
            <a:chExt cx="2752812" cy="1105474"/>
          </a:xfrm>
        </p:grpSpPr>
        <p:sp>
          <p:nvSpPr>
            <p:cNvPr name="Freeform 15" id="15"/>
            <p:cNvSpPr/>
            <p:nvPr/>
          </p:nvSpPr>
          <p:spPr>
            <a:xfrm flipH="false" flipV="false" rot="0">
              <a:off x="1723084" y="0"/>
              <a:ext cx="1029728" cy="1105474"/>
            </a:xfrm>
            <a:custGeom>
              <a:avLst/>
              <a:gdLst/>
              <a:ahLst/>
              <a:cxnLst/>
              <a:rect r="r" b="b" t="t" l="l"/>
              <a:pathLst>
                <a:path h="1105474" w="1029728">
                  <a:moveTo>
                    <a:pt x="0" y="0"/>
                  </a:moveTo>
                  <a:lnTo>
                    <a:pt x="1029728" y="0"/>
                  </a:lnTo>
                  <a:lnTo>
                    <a:pt x="1029728" y="1105474"/>
                  </a:lnTo>
                  <a:lnTo>
                    <a:pt x="0" y="11054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0" y="326956"/>
              <a:ext cx="1530668" cy="459317"/>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Résultat :</a:t>
              </a:r>
            </a:p>
          </p:txBody>
        </p:sp>
      </p:grpSp>
      <p:sp>
        <p:nvSpPr>
          <p:cNvPr name="TextBox 17" id="17"/>
          <p:cNvSpPr txBox="true"/>
          <p:nvPr/>
        </p:nvSpPr>
        <p:spPr>
          <a:xfrm rot="0">
            <a:off x="1424911" y="7859015"/>
            <a:ext cx="6473873" cy="64008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Poppins"/>
                <a:ea typeface="Poppins"/>
                <a:cs typeface="Poppins"/>
                <a:sym typeface="Poppins"/>
              </a:rPr>
              <a:t>🧠 Master Node → gestion du cluster + GitLab Runner</a:t>
            </a:r>
          </a:p>
          <a:p>
            <a:pPr algn="l">
              <a:lnSpc>
                <a:spcPts val="2520"/>
              </a:lnSpc>
              <a:spcBef>
                <a:spcPct val="0"/>
              </a:spcBef>
            </a:pPr>
            <a:r>
              <a:rPr lang="en-US" sz="1800">
                <a:solidFill>
                  <a:srgbClr val="FFFFFF"/>
                </a:solidFill>
                <a:latin typeface="Poppins"/>
                <a:ea typeface="Poppins"/>
                <a:cs typeface="Poppins"/>
                <a:sym typeface="Poppins"/>
              </a:rPr>
              <a:t>⚙️ Worker Node → exécution des pods</a:t>
            </a:r>
          </a:p>
        </p:txBody>
      </p:sp>
      <p:grpSp>
        <p:nvGrpSpPr>
          <p:cNvPr name="Group 18" id="18"/>
          <p:cNvGrpSpPr/>
          <p:nvPr/>
        </p:nvGrpSpPr>
        <p:grpSpPr>
          <a:xfrm rot="0">
            <a:off x="6117278" y="2807172"/>
            <a:ext cx="11142022" cy="9489038"/>
            <a:chOff x="0" y="0"/>
            <a:chExt cx="14856030" cy="12652051"/>
          </a:xfrm>
        </p:grpSpPr>
        <p:grpSp>
          <p:nvGrpSpPr>
            <p:cNvPr name="Group 19" id="19"/>
            <p:cNvGrpSpPr/>
            <p:nvPr/>
          </p:nvGrpSpPr>
          <p:grpSpPr>
            <a:xfrm rot="0">
              <a:off x="5408069" y="0"/>
              <a:ext cx="994102" cy="99410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1" id="21"/>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Freeform 22" id="22"/>
            <p:cNvSpPr/>
            <p:nvPr/>
          </p:nvSpPr>
          <p:spPr>
            <a:xfrm flipH="false" flipV="false" rot="0">
              <a:off x="5724037" y="315968"/>
              <a:ext cx="362165" cy="362165"/>
            </a:xfrm>
            <a:custGeom>
              <a:avLst/>
              <a:gdLst/>
              <a:ahLst/>
              <a:cxnLst/>
              <a:rect r="r" b="b" t="t" l="l"/>
              <a:pathLst>
                <a:path h="362165" w="362165">
                  <a:moveTo>
                    <a:pt x="0" y="0"/>
                  </a:moveTo>
                  <a:lnTo>
                    <a:pt x="362165" y="0"/>
                  </a:lnTo>
                  <a:lnTo>
                    <a:pt x="362165" y="362166"/>
                  </a:lnTo>
                  <a:lnTo>
                    <a:pt x="0" y="3621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5967585">
              <a:off x="1220329" y="3641874"/>
              <a:ext cx="7674049" cy="8975496"/>
            </a:xfrm>
            <a:custGeom>
              <a:avLst/>
              <a:gdLst/>
              <a:ahLst/>
              <a:cxnLst/>
              <a:rect r="r" b="b" t="t" l="l"/>
              <a:pathLst>
                <a:path h="8975496" w="7674049">
                  <a:moveTo>
                    <a:pt x="0" y="0"/>
                  </a:moveTo>
                  <a:lnTo>
                    <a:pt x="7674049" y="0"/>
                  </a:lnTo>
                  <a:lnTo>
                    <a:pt x="7674049" y="8975496"/>
                  </a:lnTo>
                  <a:lnTo>
                    <a:pt x="0" y="8975496"/>
                  </a:lnTo>
                  <a:lnTo>
                    <a:pt x="0" y="0"/>
                  </a:lnTo>
                  <a:close/>
                </a:path>
              </a:pathLst>
            </a:custGeom>
            <a:blipFill>
              <a:blip r:embed="rId10">
                <a:alphaModFix amt="19999"/>
              </a:blip>
              <a:stretch>
                <a:fillRect l="0" t="0" r="0" b="0"/>
              </a:stretch>
            </a:blipFill>
          </p:spPr>
        </p:sp>
        <p:sp>
          <p:nvSpPr>
            <p:cNvPr name="TextBox 24" id="24"/>
            <p:cNvSpPr txBox="true"/>
            <p:nvPr/>
          </p:nvSpPr>
          <p:spPr>
            <a:xfrm rot="0">
              <a:off x="6837237" y="415705"/>
              <a:ext cx="7472706" cy="2240491"/>
            </a:xfrm>
            <a:prstGeom prst="rect">
              <a:avLst/>
            </a:prstGeom>
          </p:spPr>
          <p:txBody>
            <a:bodyPr anchor="t" rtlCol="false" tIns="0" lIns="0" bIns="0" rIns="0">
              <a:spAutoFit/>
            </a:bodyPr>
            <a:lstStyle/>
            <a:p>
              <a:pPr algn="just">
                <a:lnSpc>
                  <a:spcPts val="3400"/>
                </a:lnSpc>
              </a:pPr>
              <a:r>
                <a:rPr lang="en-US" sz="2000">
                  <a:solidFill>
                    <a:srgbClr val="F4F4F4"/>
                  </a:solidFill>
                  <a:latin typeface="Poppins"/>
                  <a:ea typeface="Poppins"/>
                  <a:cs typeface="Poppins"/>
                  <a:sym typeface="Poppins"/>
                </a:rPr>
                <a:t>Configuration automatique des machines</a:t>
              </a:r>
            </a:p>
            <a:p>
              <a:pPr algn="just">
                <a:lnSpc>
                  <a:spcPts val="3400"/>
                </a:lnSpc>
              </a:pPr>
              <a:r>
                <a:rPr lang="en-US" sz="2000">
                  <a:solidFill>
                    <a:srgbClr val="F4F4F4"/>
                  </a:solidFill>
                  <a:latin typeface="Poppins"/>
                  <a:ea typeface="Poppins"/>
                  <a:cs typeface="Poppins"/>
                  <a:sym typeface="Poppins"/>
                </a:rPr>
                <a:t>Installation de Docker et Kubernetes (k3s) a traves l’utilisation de playbooks YAML</a:t>
              </a:r>
            </a:p>
            <a:p>
              <a:pPr algn="l">
                <a:lnSpc>
                  <a:spcPts val="3400"/>
                </a:lnSpc>
              </a:pPr>
            </a:p>
          </p:txBody>
        </p:sp>
        <p:sp>
          <p:nvSpPr>
            <p:cNvPr name="TextBox 25" id="25"/>
            <p:cNvSpPr txBox="true"/>
            <p:nvPr/>
          </p:nvSpPr>
          <p:spPr>
            <a:xfrm rot="0">
              <a:off x="6837237" y="-57150"/>
              <a:ext cx="4658292" cy="459317"/>
            </a:xfrm>
            <a:prstGeom prst="rect">
              <a:avLst/>
            </a:prstGeom>
          </p:spPr>
          <p:txBody>
            <a:bodyPr anchor="t" rtlCol="false" tIns="0" lIns="0" bIns="0" rIns="0">
              <a:spAutoFit/>
            </a:bodyPr>
            <a:lstStyle/>
            <a:p>
              <a:pPr algn="just">
                <a:lnSpc>
                  <a:spcPts val="2799"/>
                </a:lnSpc>
                <a:spcBef>
                  <a:spcPct val="0"/>
                </a:spcBef>
              </a:pPr>
              <a:r>
                <a:rPr lang="en-US" b="true" sz="1999">
                  <a:solidFill>
                    <a:srgbClr val="F4F4F4"/>
                  </a:solidFill>
                  <a:latin typeface="Poppins Bold"/>
                  <a:ea typeface="Poppins Bold"/>
                  <a:cs typeface="Poppins Bold"/>
                  <a:sym typeface="Poppins Bold"/>
                </a:rPr>
                <a:t> Ansible (Configuration)</a:t>
              </a:r>
            </a:p>
          </p:txBody>
        </p:sp>
        <p:sp>
          <p:nvSpPr>
            <p:cNvPr name="TextBox 26" id="26"/>
            <p:cNvSpPr txBox="true"/>
            <p:nvPr/>
          </p:nvSpPr>
          <p:spPr>
            <a:xfrm rot="0">
              <a:off x="6707392" y="3423072"/>
              <a:ext cx="7301048" cy="929217"/>
            </a:xfrm>
            <a:prstGeom prst="rect">
              <a:avLst/>
            </a:prstGeom>
          </p:spPr>
          <p:txBody>
            <a:bodyPr anchor="t" rtlCol="false" tIns="0" lIns="0" bIns="0" rIns="0">
              <a:spAutoFit/>
            </a:bodyPr>
            <a:lstStyle/>
            <a:p>
              <a:pPr algn="l" marL="431799" indent="-215899" lvl="1">
                <a:lnSpc>
                  <a:spcPts val="2799"/>
                </a:lnSpc>
                <a:buFont typeface="Arial"/>
                <a:buChar char="•"/>
              </a:pPr>
              <a:r>
                <a:rPr lang="en-US" sz="1999">
                  <a:solidFill>
                    <a:srgbClr val="FFFFFF"/>
                  </a:solidFill>
                  <a:latin typeface="Poppins"/>
                  <a:ea typeface="Poppins"/>
                  <a:cs typeface="Poppins"/>
                  <a:sym typeface="Poppins"/>
                </a:rPr>
                <a:t>Inventory (Master / Worker)</a:t>
              </a:r>
            </a:p>
            <a:p>
              <a:pPr algn="l" marL="431799" indent="-215899" lvl="1">
                <a:lnSpc>
                  <a:spcPts val="2799"/>
                </a:lnSpc>
                <a:buFont typeface="Arial"/>
                <a:buChar char="•"/>
              </a:pPr>
              <a:r>
                <a:rPr lang="en-US" sz="1999">
                  <a:solidFill>
                    <a:srgbClr val="FFFFFF"/>
                  </a:solidFill>
                  <a:latin typeface="Poppins"/>
                  <a:ea typeface="Poppins"/>
                  <a:cs typeface="Poppins"/>
                  <a:sym typeface="Poppins"/>
                </a:rPr>
                <a:t>Playbooks YAML</a:t>
              </a:r>
            </a:p>
          </p:txBody>
        </p:sp>
        <p:sp>
          <p:nvSpPr>
            <p:cNvPr name="Freeform 27" id="27"/>
            <p:cNvSpPr/>
            <p:nvPr/>
          </p:nvSpPr>
          <p:spPr>
            <a:xfrm flipH="false" flipV="false" rot="0">
              <a:off x="9561962" y="2514592"/>
              <a:ext cx="582353" cy="660400"/>
            </a:xfrm>
            <a:custGeom>
              <a:avLst/>
              <a:gdLst/>
              <a:ahLst/>
              <a:cxnLst/>
              <a:rect r="r" b="b" t="t" l="l"/>
              <a:pathLst>
                <a:path h="660400" w="582353">
                  <a:moveTo>
                    <a:pt x="0" y="0"/>
                  </a:moveTo>
                  <a:lnTo>
                    <a:pt x="582353" y="0"/>
                  </a:lnTo>
                  <a:lnTo>
                    <a:pt x="582353" y="660400"/>
                  </a:lnTo>
                  <a:lnTo>
                    <a:pt x="0" y="660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6837237" y="2586559"/>
              <a:ext cx="2592705" cy="459317"/>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Fichiers utilisé : </a:t>
              </a:r>
            </a:p>
          </p:txBody>
        </p:sp>
        <p:sp>
          <p:nvSpPr>
            <p:cNvPr name="Freeform 29" id="29"/>
            <p:cNvSpPr/>
            <p:nvPr/>
          </p:nvSpPr>
          <p:spPr>
            <a:xfrm flipH="false" flipV="false" rot="0">
              <a:off x="8560321" y="5287417"/>
              <a:ext cx="1029728" cy="1105474"/>
            </a:xfrm>
            <a:custGeom>
              <a:avLst/>
              <a:gdLst/>
              <a:ahLst/>
              <a:cxnLst/>
              <a:rect r="r" b="b" t="t" l="l"/>
              <a:pathLst>
                <a:path h="1105474" w="1029728">
                  <a:moveTo>
                    <a:pt x="0" y="0"/>
                  </a:moveTo>
                  <a:lnTo>
                    <a:pt x="1029728" y="0"/>
                  </a:lnTo>
                  <a:lnTo>
                    <a:pt x="1029728" y="1105474"/>
                  </a:lnTo>
                  <a:lnTo>
                    <a:pt x="0" y="11054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0" id="30"/>
            <p:cNvSpPr txBox="true"/>
            <p:nvPr/>
          </p:nvSpPr>
          <p:spPr>
            <a:xfrm rot="0">
              <a:off x="6837237" y="5614374"/>
              <a:ext cx="1530668" cy="459317"/>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Résultat :</a:t>
              </a:r>
            </a:p>
          </p:txBody>
        </p:sp>
        <p:sp>
          <p:nvSpPr>
            <p:cNvPr name="TextBox 31" id="31"/>
            <p:cNvSpPr txBox="true"/>
            <p:nvPr/>
          </p:nvSpPr>
          <p:spPr>
            <a:xfrm rot="0">
              <a:off x="6707392" y="6818341"/>
              <a:ext cx="8148638" cy="459317"/>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nfrastructure 100% automatisée et reproductible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1184083">
            <a:off x="6393966" y="2253725"/>
            <a:ext cx="5755537" cy="6731622"/>
          </a:xfrm>
          <a:custGeom>
            <a:avLst/>
            <a:gdLst/>
            <a:ahLst/>
            <a:cxnLst/>
            <a:rect r="r" b="b" t="t" l="l"/>
            <a:pathLst>
              <a:path h="6731622" w="5755537">
                <a:moveTo>
                  <a:pt x="5755537" y="6731622"/>
                </a:moveTo>
                <a:lnTo>
                  <a:pt x="0" y="6731622"/>
                </a:lnTo>
                <a:lnTo>
                  <a:pt x="0" y="0"/>
                </a:lnTo>
                <a:lnTo>
                  <a:pt x="5755537" y="0"/>
                </a:lnTo>
                <a:lnTo>
                  <a:pt x="5755537" y="6731622"/>
                </a:lnTo>
                <a:close/>
              </a:path>
            </a:pathLst>
          </a:custGeom>
          <a:blipFill>
            <a:blip r:embed="rId2">
              <a:alphaModFix amt="19999"/>
            </a:blip>
            <a:stretch>
              <a:fillRect l="0" t="0" r="0" b="0"/>
            </a:stretch>
          </a:blipFill>
        </p:spPr>
      </p:sp>
      <p:grpSp>
        <p:nvGrpSpPr>
          <p:cNvPr name="Group 3" id="3"/>
          <p:cNvGrpSpPr/>
          <p:nvPr/>
        </p:nvGrpSpPr>
        <p:grpSpPr>
          <a:xfrm rot="0">
            <a:off x="9559583" y="2677395"/>
            <a:ext cx="7699717" cy="7412498"/>
            <a:chOff x="0" y="0"/>
            <a:chExt cx="4629716" cy="4457015"/>
          </a:xfrm>
        </p:grpSpPr>
        <p:sp>
          <p:nvSpPr>
            <p:cNvPr name="Freeform 4" id="4"/>
            <p:cNvSpPr/>
            <p:nvPr/>
          </p:nvSpPr>
          <p:spPr>
            <a:xfrm flipH="false" flipV="false" rot="0">
              <a:off x="0" y="0"/>
              <a:ext cx="4629715" cy="4457015"/>
            </a:xfrm>
            <a:custGeom>
              <a:avLst/>
              <a:gdLst/>
              <a:ahLst/>
              <a:cxnLst/>
              <a:rect r="r" b="b" t="t" l="l"/>
              <a:pathLst>
                <a:path h="4457015" w="4629715">
                  <a:moveTo>
                    <a:pt x="28122" y="0"/>
                  </a:moveTo>
                  <a:lnTo>
                    <a:pt x="4601593" y="0"/>
                  </a:lnTo>
                  <a:cubicBezTo>
                    <a:pt x="4609052" y="0"/>
                    <a:pt x="4616205" y="2963"/>
                    <a:pt x="4621479" y="8237"/>
                  </a:cubicBezTo>
                  <a:cubicBezTo>
                    <a:pt x="4626752" y="13511"/>
                    <a:pt x="4629715" y="20664"/>
                    <a:pt x="4629715" y="28122"/>
                  </a:cubicBezTo>
                  <a:lnTo>
                    <a:pt x="4629715" y="4428893"/>
                  </a:lnTo>
                  <a:cubicBezTo>
                    <a:pt x="4629715" y="4444424"/>
                    <a:pt x="4617125" y="4457015"/>
                    <a:pt x="4601593" y="4457015"/>
                  </a:cubicBezTo>
                  <a:lnTo>
                    <a:pt x="28122" y="4457015"/>
                  </a:lnTo>
                  <a:cubicBezTo>
                    <a:pt x="12591" y="4457015"/>
                    <a:pt x="0" y="4444424"/>
                    <a:pt x="0" y="4428893"/>
                  </a:cubicBezTo>
                  <a:lnTo>
                    <a:pt x="0" y="28122"/>
                  </a:lnTo>
                  <a:cubicBezTo>
                    <a:pt x="0" y="12591"/>
                    <a:pt x="12591" y="0"/>
                    <a:pt x="28122"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5" id="5"/>
            <p:cNvSpPr txBox="true"/>
            <p:nvPr/>
          </p:nvSpPr>
          <p:spPr>
            <a:xfrm>
              <a:off x="0" y="-38100"/>
              <a:ext cx="4629716" cy="44951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2677395"/>
            <a:ext cx="2967069" cy="807119"/>
            <a:chOff x="0" y="0"/>
            <a:chExt cx="3956092" cy="1076159"/>
          </a:xfrm>
        </p:grpSpPr>
        <p:grpSp>
          <p:nvGrpSpPr>
            <p:cNvPr name="Group 7" id="7"/>
            <p:cNvGrpSpPr/>
            <p:nvPr/>
          </p:nvGrpSpPr>
          <p:grpSpPr>
            <a:xfrm rot="0">
              <a:off x="0" y="0"/>
              <a:ext cx="3956092" cy="1076159"/>
              <a:chOff x="0" y="0"/>
              <a:chExt cx="418225" cy="113768"/>
            </a:xfrm>
          </p:grpSpPr>
          <p:sp>
            <p:nvSpPr>
              <p:cNvPr name="Freeform 8" id="8"/>
              <p:cNvSpPr/>
              <p:nvPr/>
            </p:nvSpPr>
            <p:spPr>
              <a:xfrm flipH="false" flipV="false" rot="0">
                <a:off x="0" y="0"/>
                <a:ext cx="418225" cy="113768"/>
              </a:xfrm>
              <a:custGeom>
                <a:avLst/>
                <a:gdLst/>
                <a:ahLst/>
                <a:cxnLst/>
                <a:rect r="r" b="b" t="t" l="l"/>
                <a:pathLst>
                  <a:path h="113768" w="418225">
                    <a:moveTo>
                      <a:pt x="56884" y="0"/>
                    </a:moveTo>
                    <a:lnTo>
                      <a:pt x="361341" y="0"/>
                    </a:lnTo>
                    <a:cubicBezTo>
                      <a:pt x="376427" y="0"/>
                      <a:pt x="390896" y="5993"/>
                      <a:pt x="401564" y="16661"/>
                    </a:cubicBezTo>
                    <a:cubicBezTo>
                      <a:pt x="412232" y="27329"/>
                      <a:pt x="418225" y="41797"/>
                      <a:pt x="418225" y="56884"/>
                    </a:cubicBezTo>
                    <a:lnTo>
                      <a:pt x="418225" y="56884"/>
                    </a:lnTo>
                    <a:cubicBezTo>
                      <a:pt x="418225" y="88300"/>
                      <a:pt x="392757" y="113768"/>
                      <a:pt x="361341" y="113768"/>
                    </a:cubicBezTo>
                    <a:lnTo>
                      <a:pt x="56884" y="113768"/>
                    </a:lnTo>
                    <a:cubicBezTo>
                      <a:pt x="25468" y="113768"/>
                      <a:pt x="0" y="88300"/>
                      <a:pt x="0" y="56884"/>
                    </a:cubicBezTo>
                    <a:lnTo>
                      <a:pt x="0" y="56884"/>
                    </a:lnTo>
                    <a:cubicBezTo>
                      <a:pt x="0" y="25468"/>
                      <a:pt x="25468" y="0"/>
                      <a:pt x="56884"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9" id="9"/>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33606" y="213171"/>
              <a:ext cx="3288881" cy="525991"/>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Étapes réalisées</a:t>
              </a:r>
            </a:p>
          </p:txBody>
        </p:sp>
      </p:grpSp>
      <p:sp>
        <p:nvSpPr>
          <p:cNvPr name="Freeform 11" id="11"/>
          <p:cNvSpPr/>
          <p:nvPr/>
        </p:nvSpPr>
        <p:spPr>
          <a:xfrm flipH="false" flipV="false" rot="0">
            <a:off x="10061687" y="2890090"/>
            <a:ext cx="6110626" cy="6869294"/>
          </a:xfrm>
          <a:custGeom>
            <a:avLst/>
            <a:gdLst/>
            <a:ahLst/>
            <a:cxnLst/>
            <a:rect r="r" b="b" t="t" l="l"/>
            <a:pathLst>
              <a:path h="6869294" w="6110626">
                <a:moveTo>
                  <a:pt x="0" y="0"/>
                </a:moveTo>
                <a:lnTo>
                  <a:pt x="6110626" y="0"/>
                </a:lnTo>
                <a:lnTo>
                  <a:pt x="6110626" y="6869294"/>
                </a:lnTo>
                <a:lnTo>
                  <a:pt x="0" y="6869294"/>
                </a:lnTo>
                <a:lnTo>
                  <a:pt x="0" y="0"/>
                </a:lnTo>
                <a:close/>
              </a:path>
            </a:pathLst>
          </a:custGeom>
          <a:blipFill>
            <a:blip r:embed="rId3"/>
            <a:stretch>
              <a:fillRect l="-4029" t="0" r="-4029" b="0"/>
            </a:stretch>
          </a:blipFill>
        </p:spPr>
      </p:sp>
      <p:sp>
        <p:nvSpPr>
          <p:cNvPr name="Freeform 12" id="12"/>
          <p:cNvSpPr/>
          <p:nvPr/>
        </p:nvSpPr>
        <p:spPr>
          <a:xfrm flipH="false" flipV="false" rot="0">
            <a:off x="11846616" y="2805567"/>
            <a:ext cx="1151813" cy="550776"/>
          </a:xfrm>
          <a:custGeom>
            <a:avLst/>
            <a:gdLst/>
            <a:ahLst/>
            <a:cxnLst/>
            <a:rect r="r" b="b" t="t" l="l"/>
            <a:pathLst>
              <a:path h="550776" w="1151813">
                <a:moveTo>
                  <a:pt x="0" y="0"/>
                </a:moveTo>
                <a:lnTo>
                  <a:pt x="1151812" y="0"/>
                </a:lnTo>
                <a:lnTo>
                  <a:pt x="1151812" y="550776"/>
                </a:lnTo>
                <a:lnTo>
                  <a:pt x="0" y="5507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3" id="13"/>
          <p:cNvSpPr txBox="true"/>
          <p:nvPr/>
        </p:nvSpPr>
        <p:spPr>
          <a:xfrm rot="0">
            <a:off x="101330" y="543243"/>
            <a:ext cx="17872766" cy="1018540"/>
          </a:xfrm>
          <a:prstGeom prst="rect">
            <a:avLst/>
          </a:prstGeom>
        </p:spPr>
        <p:txBody>
          <a:bodyPr anchor="t" rtlCol="false" tIns="0" lIns="0" bIns="0" rIns="0">
            <a:spAutoFit/>
          </a:bodyPr>
          <a:lstStyle/>
          <a:p>
            <a:pPr algn="ctr">
              <a:lnSpc>
                <a:spcPts val="7279"/>
              </a:lnSpc>
            </a:pPr>
            <a:r>
              <a:rPr lang="en-US" sz="6999" b="true">
                <a:solidFill>
                  <a:srgbClr val="FFFFFF"/>
                </a:solidFill>
                <a:latin typeface="Poppins Bold"/>
                <a:ea typeface="Poppins Bold"/>
                <a:cs typeface="Poppins Bold"/>
                <a:sym typeface="Poppins Bold"/>
              </a:rPr>
              <a:t>Orchestration avec Kubernetes</a:t>
            </a:r>
          </a:p>
        </p:txBody>
      </p:sp>
      <p:sp>
        <p:nvSpPr>
          <p:cNvPr name="TextBox 14" id="14"/>
          <p:cNvSpPr txBox="true"/>
          <p:nvPr/>
        </p:nvSpPr>
        <p:spPr>
          <a:xfrm rot="0">
            <a:off x="101330" y="1769949"/>
            <a:ext cx="17259300" cy="843915"/>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Poppins"/>
                <a:ea typeface="Poppins"/>
                <a:cs typeface="Poppins"/>
                <a:sym typeface="Poppins"/>
              </a:rPr>
              <a:t> automatiser le déploiement, la gestion, la scalabilité et la haute disponibilité des applications basées sur des conteneurs.</a:t>
            </a:r>
          </a:p>
        </p:txBody>
      </p:sp>
      <p:grpSp>
        <p:nvGrpSpPr>
          <p:cNvPr name="Group 15" id="15"/>
          <p:cNvGrpSpPr/>
          <p:nvPr/>
        </p:nvGrpSpPr>
        <p:grpSpPr>
          <a:xfrm rot="0">
            <a:off x="614055" y="3984335"/>
            <a:ext cx="7445068" cy="1159165"/>
            <a:chOff x="0" y="0"/>
            <a:chExt cx="9926758" cy="1545553"/>
          </a:xfrm>
        </p:grpSpPr>
        <p:sp>
          <p:nvSpPr>
            <p:cNvPr name="TextBox 16" id="16"/>
            <p:cNvSpPr txBox="true"/>
            <p:nvPr/>
          </p:nvSpPr>
          <p:spPr>
            <a:xfrm rot="0">
              <a:off x="0" y="-66675"/>
              <a:ext cx="9926758" cy="566209"/>
            </a:xfrm>
            <a:prstGeom prst="rect">
              <a:avLst/>
            </a:prstGeom>
          </p:spPr>
          <p:txBody>
            <a:bodyPr anchor="t" rtlCol="false" tIns="0" lIns="0" bIns="0" rIns="0">
              <a:spAutoFit/>
            </a:bodyPr>
            <a:lstStyle/>
            <a:p>
              <a:pPr algn="l">
                <a:lnSpc>
                  <a:spcPts val="3499"/>
                </a:lnSpc>
              </a:pPr>
              <a:r>
                <a:rPr lang="en-US" b="true" sz="2499">
                  <a:solidFill>
                    <a:srgbClr val="D51D7F"/>
                  </a:solidFill>
                  <a:latin typeface="Poppins Bold"/>
                  <a:ea typeface="Poppins Bold"/>
                  <a:cs typeface="Poppins Bold"/>
                  <a:sym typeface="Poppins Bold"/>
                </a:rPr>
                <a:t>1.Configuration du cluster :</a:t>
              </a:r>
            </a:p>
          </p:txBody>
        </p:sp>
        <p:sp>
          <p:nvSpPr>
            <p:cNvPr name="TextBox 17" id="17"/>
            <p:cNvSpPr txBox="true"/>
            <p:nvPr/>
          </p:nvSpPr>
          <p:spPr>
            <a:xfrm rot="0">
              <a:off x="0" y="616337"/>
              <a:ext cx="6363653" cy="929217"/>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Initialisation du Master Node</a:t>
              </a:r>
            </a:p>
            <a:p>
              <a:pPr algn="l">
                <a:lnSpc>
                  <a:spcPts val="2799"/>
                </a:lnSpc>
                <a:spcBef>
                  <a:spcPct val="0"/>
                </a:spcBef>
              </a:pPr>
              <a:r>
                <a:rPr lang="en-US" sz="1999">
                  <a:solidFill>
                    <a:srgbClr val="FFFFFF"/>
                  </a:solidFill>
                  <a:latin typeface="Poppins"/>
                  <a:ea typeface="Poppins"/>
                  <a:cs typeface="Poppins"/>
                  <a:sym typeface="Poppins"/>
                </a:rPr>
                <a:t>Connexion du Worker Node au cluster</a:t>
              </a:r>
            </a:p>
          </p:txBody>
        </p:sp>
      </p:grpSp>
      <p:grpSp>
        <p:nvGrpSpPr>
          <p:cNvPr name="Group 18" id="18"/>
          <p:cNvGrpSpPr/>
          <p:nvPr/>
        </p:nvGrpSpPr>
        <p:grpSpPr>
          <a:xfrm rot="0">
            <a:off x="614055" y="5429250"/>
            <a:ext cx="7209960" cy="1511590"/>
            <a:chOff x="0" y="0"/>
            <a:chExt cx="9613281" cy="2015453"/>
          </a:xfrm>
        </p:grpSpPr>
        <p:sp>
          <p:nvSpPr>
            <p:cNvPr name="TextBox 19" id="19"/>
            <p:cNvSpPr txBox="true"/>
            <p:nvPr/>
          </p:nvSpPr>
          <p:spPr>
            <a:xfrm rot="0">
              <a:off x="0" y="-66675"/>
              <a:ext cx="9308725" cy="566209"/>
            </a:xfrm>
            <a:prstGeom prst="rect">
              <a:avLst/>
            </a:prstGeom>
          </p:spPr>
          <p:txBody>
            <a:bodyPr anchor="t" rtlCol="false" tIns="0" lIns="0" bIns="0" rIns="0">
              <a:spAutoFit/>
            </a:bodyPr>
            <a:lstStyle/>
            <a:p>
              <a:pPr algn="l">
                <a:lnSpc>
                  <a:spcPts val="3499"/>
                </a:lnSpc>
              </a:pPr>
              <a:r>
                <a:rPr lang="en-US" b="true" sz="2499">
                  <a:solidFill>
                    <a:srgbClr val="D51D7F"/>
                  </a:solidFill>
                  <a:latin typeface="Poppins Bold"/>
                  <a:ea typeface="Poppins Bold"/>
                  <a:cs typeface="Poppins Bold"/>
                  <a:sym typeface="Poppins Bold"/>
                </a:rPr>
                <a:t>2.Création du fichier deployment.yaml</a:t>
              </a:r>
            </a:p>
          </p:txBody>
        </p:sp>
        <p:sp>
          <p:nvSpPr>
            <p:cNvPr name="TextBox 20" id="20"/>
            <p:cNvSpPr txBox="true"/>
            <p:nvPr/>
          </p:nvSpPr>
          <p:spPr>
            <a:xfrm rot="0">
              <a:off x="0" y="616337"/>
              <a:ext cx="9613281" cy="1399117"/>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Spéc</a:t>
              </a:r>
              <a:r>
                <a:rPr lang="en-US" sz="1999">
                  <a:solidFill>
                    <a:srgbClr val="FFFFFF"/>
                  </a:solidFill>
                  <a:latin typeface="Poppins"/>
                  <a:ea typeface="Poppins"/>
                  <a:cs typeface="Poppins"/>
                  <a:sym typeface="Poppins"/>
                </a:rPr>
                <a:t>ification de l’image Docker uiaam/swap-flask-app</a:t>
              </a:r>
            </a:p>
            <a:p>
              <a:pPr algn="l">
                <a:lnSpc>
                  <a:spcPts val="2799"/>
                </a:lnSpc>
                <a:spcBef>
                  <a:spcPct val="0"/>
                </a:spcBef>
              </a:pPr>
              <a:r>
                <a:rPr lang="en-US" sz="1999">
                  <a:solidFill>
                    <a:srgbClr val="FFFFFF"/>
                  </a:solidFill>
                  <a:latin typeface="Poppins"/>
                  <a:ea typeface="Poppins"/>
                  <a:cs typeface="Poppins"/>
                  <a:sym typeface="Poppins"/>
                </a:rPr>
                <a:t>Définition du nombre de replicas</a:t>
              </a:r>
            </a:p>
            <a:p>
              <a:pPr algn="l">
                <a:lnSpc>
                  <a:spcPts val="2799"/>
                </a:lnSpc>
              </a:pPr>
            </a:p>
          </p:txBody>
        </p:sp>
      </p:grpSp>
      <p:grpSp>
        <p:nvGrpSpPr>
          <p:cNvPr name="Group 21" id="21"/>
          <p:cNvGrpSpPr/>
          <p:nvPr/>
        </p:nvGrpSpPr>
        <p:grpSpPr>
          <a:xfrm rot="0">
            <a:off x="614055" y="6940840"/>
            <a:ext cx="7445068" cy="1511590"/>
            <a:chOff x="0" y="0"/>
            <a:chExt cx="9926758" cy="2015453"/>
          </a:xfrm>
        </p:grpSpPr>
        <p:sp>
          <p:nvSpPr>
            <p:cNvPr name="TextBox 22" id="22"/>
            <p:cNvSpPr txBox="true"/>
            <p:nvPr/>
          </p:nvSpPr>
          <p:spPr>
            <a:xfrm rot="0">
              <a:off x="0" y="-66675"/>
              <a:ext cx="9926758" cy="566209"/>
            </a:xfrm>
            <a:prstGeom prst="rect">
              <a:avLst/>
            </a:prstGeom>
          </p:spPr>
          <p:txBody>
            <a:bodyPr anchor="t" rtlCol="false" tIns="0" lIns="0" bIns="0" rIns="0">
              <a:spAutoFit/>
            </a:bodyPr>
            <a:lstStyle/>
            <a:p>
              <a:pPr algn="l">
                <a:lnSpc>
                  <a:spcPts val="3499"/>
                </a:lnSpc>
              </a:pPr>
              <a:r>
                <a:rPr lang="en-US" b="true" sz="2499">
                  <a:solidFill>
                    <a:srgbClr val="D51D7F"/>
                  </a:solidFill>
                  <a:latin typeface="Poppins Bold"/>
                  <a:ea typeface="Poppins Bold"/>
                  <a:cs typeface="Poppins Bold"/>
                  <a:sym typeface="Poppins Bold"/>
                </a:rPr>
                <a:t>3.Déploiement de l’application :</a:t>
              </a:r>
            </a:p>
          </p:txBody>
        </p:sp>
        <p:sp>
          <p:nvSpPr>
            <p:cNvPr name="TextBox 23" id="23"/>
            <p:cNvSpPr txBox="true"/>
            <p:nvPr/>
          </p:nvSpPr>
          <p:spPr>
            <a:xfrm rot="0">
              <a:off x="0" y="616337"/>
              <a:ext cx="9506787" cy="1399117"/>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kubectl apply -f deployme</a:t>
              </a:r>
              <a:r>
                <a:rPr lang="en-US" sz="1999">
                  <a:solidFill>
                    <a:srgbClr val="FFFFFF"/>
                  </a:solidFill>
                  <a:latin typeface="Poppins"/>
                  <a:ea typeface="Poppins"/>
                  <a:cs typeface="Poppins"/>
                  <a:sym typeface="Poppins"/>
                </a:rPr>
                <a:t>nt.yaml</a:t>
              </a:r>
            </a:p>
            <a:p>
              <a:pPr algn="l">
                <a:lnSpc>
                  <a:spcPts val="2799"/>
                </a:lnSpc>
                <a:spcBef>
                  <a:spcPct val="0"/>
                </a:spcBef>
              </a:pPr>
              <a:r>
                <a:rPr lang="en-US" sz="1999">
                  <a:solidFill>
                    <a:srgbClr val="FFFFFF"/>
                  </a:solidFill>
                  <a:latin typeface="Poppins"/>
                  <a:ea typeface="Poppins"/>
                  <a:cs typeface="Poppins"/>
                  <a:sym typeface="Poppins"/>
                </a:rPr>
                <a:t>Création et lancement des pods</a:t>
              </a:r>
            </a:p>
            <a:p>
              <a:pPr algn="l">
                <a:lnSpc>
                  <a:spcPts val="2799"/>
                </a:lnSpc>
                <a:spcBef>
                  <a:spcPct val="0"/>
                </a:spcBef>
              </a:pPr>
            </a:p>
          </p:txBody>
        </p:sp>
      </p:grpSp>
      <p:grpSp>
        <p:nvGrpSpPr>
          <p:cNvPr name="Group 24" id="24"/>
          <p:cNvGrpSpPr/>
          <p:nvPr/>
        </p:nvGrpSpPr>
        <p:grpSpPr>
          <a:xfrm rot="0">
            <a:off x="614055" y="8452430"/>
            <a:ext cx="7445068" cy="806740"/>
            <a:chOff x="0" y="0"/>
            <a:chExt cx="9926758" cy="1075653"/>
          </a:xfrm>
        </p:grpSpPr>
        <p:sp>
          <p:nvSpPr>
            <p:cNvPr name="TextBox 25" id="25"/>
            <p:cNvSpPr txBox="true"/>
            <p:nvPr/>
          </p:nvSpPr>
          <p:spPr>
            <a:xfrm rot="0">
              <a:off x="0" y="-66675"/>
              <a:ext cx="9926758" cy="566209"/>
            </a:xfrm>
            <a:prstGeom prst="rect">
              <a:avLst/>
            </a:prstGeom>
          </p:spPr>
          <p:txBody>
            <a:bodyPr anchor="t" rtlCol="false" tIns="0" lIns="0" bIns="0" rIns="0">
              <a:spAutoFit/>
            </a:bodyPr>
            <a:lstStyle/>
            <a:p>
              <a:pPr algn="l">
                <a:lnSpc>
                  <a:spcPts val="3499"/>
                </a:lnSpc>
              </a:pPr>
              <a:r>
                <a:rPr lang="en-US" b="true" sz="2499">
                  <a:solidFill>
                    <a:srgbClr val="D51D7F"/>
                  </a:solidFill>
                  <a:latin typeface="Poppins Bold"/>
                  <a:ea typeface="Poppins Bold"/>
                  <a:cs typeface="Poppins Bold"/>
                  <a:sym typeface="Poppins Bold"/>
                </a:rPr>
                <a:t>4.Exposition de l’application :</a:t>
              </a:r>
            </a:p>
          </p:txBody>
        </p:sp>
        <p:sp>
          <p:nvSpPr>
            <p:cNvPr name="TextBox 26" id="26"/>
            <p:cNvSpPr txBox="true"/>
            <p:nvPr/>
          </p:nvSpPr>
          <p:spPr>
            <a:xfrm rot="0">
              <a:off x="0" y="616337"/>
              <a:ext cx="9506787" cy="459317"/>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Création d’un Service NodePort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184083">
            <a:off x="6921658" y="6179923"/>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2">
              <a:alphaModFix amt="19999"/>
            </a:blip>
            <a:stretch>
              <a:fillRect l="0" t="0" r="0" b="0"/>
            </a:stretch>
          </a:blipFill>
        </p:spPr>
      </p:sp>
      <p:sp>
        <p:nvSpPr>
          <p:cNvPr name="TextBox 3" id="3"/>
          <p:cNvSpPr txBox="true"/>
          <p:nvPr/>
        </p:nvSpPr>
        <p:spPr>
          <a:xfrm rot="0">
            <a:off x="1787784" y="448865"/>
            <a:ext cx="14429464" cy="1018540"/>
          </a:xfrm>
          <a:prstGeom prst="rect">
            <a:avLst/>
          </a:prstGeom>
        </p:spPr>
        <p:txBody>
          <a:bodyPr anchor="t" rtlCol="false" tIns="0" lIns="0" bIns="0" rIns="0">
            <a:spAutoFit/>
          </a:bodyPr>
          <a:lstStyle/>
          <a:p>
            <a:pPr algn="ctr">
              <a:lnSpc>
                <a:spcPts val="7279"/>
              </a:lnSpc>
            </a:pPr>
            <a:r>
              <a:rPr lang="en-US" sz="6999" b="true">
                <a:solidFill>
                  <a:srgbClr val="D51D7F"/>
                </a:solidFill>
                <a:latin typeface="Poppins Bold"/>
                <a:ea typeface="Poppins Bold"/>
                <a:cs typeface="Poppins Bold"/>
                <a:sym typeface="Poppins Bold"/>
              </a:rPr>
              <a:t>Pipeline CI/CD</a:t>
            </a:r>
          </a:p>
        </p:txBody>
      </p:sp>
      <p:sp>
        <p:nvSpPr>
          <p:cNvPr name="Freeform 4" id="4"/>
          <p:cNvSpPr/>
          <p:nvPr/>
        </p:nvSpPr>
        <p:spPr>
          <a:xfrm flipH="false" flipV="false" rot="-4564371">
            <a:off x="-2380327" y="-2964571"/>
            <a:ext cx="5755537" cy="6731622"/>
          </a:xfrm>
          <a:custGeom>
            <a:avLst/>
            <a:gdLst/>
            <a:ahLst/>
            <a:cxnLst/>
            <a:rect r="r" b="b" t="t" l="l"/>
            <a:pathLst>
              <a:path h="6731622" w="5755537">
                <a:moveTo>
                  <a:pt x="0" y="0"/>
                </a:moveTo>
                <a:lnTo>
                  <a:pt x="5755537" y="0"/>
                </a:lnTo>
                <a:lnTo>
                  <a:pt x="5755537" y="6731622"/>
                </a:lnTo>
                <a:lnTo>
                  <a:pt x="0" y="6731622"/>
                </a:lnTo>
                <a:lnTo>
                  <a:pt x="0" y="0"/>
                </a:lnTo>
                <a:close/>
              </a:path>
            </a:pathLst>
          </a:custGeom>
          <a:blipFill>
            <a:blip r:embed="rId3">
              <a:alphaModFix amt="49000"/>
            </a:blip>
            <a:stretch>
              <a:fillRect l="0" t="0" r="0" b="0"/>
            </a:stretch>
          </a:blipFill>
        </p:spPr>
      </p:sp>
      <p:sp>
        <p:nvSpPr>
          <p:cNvPr name="Freeform 5" id="5"/>
          <p:cNvSpPr/>
          <p:nvPr/>
        </p:nvSpPr>
        <p:spPr>
          <a:xfrm flipH="false" flipV="false" rot="0">
            <a:off x="1028700" y="6656837"/>
            <a:ext cx="15471516" cy="2736749"/>
          </a:xfrm>
          <a:custGeom>
            <a:avLst/>
            <a:gdLst/>
            <a:ahLst/>
            <a:cxnLst/>
            <a:rect r="r" b="b" t="t" l="l"/>
            <a:pathLst>
              <a:path h="2736749" w="15471516">
                <a:moveTo>
                  <a:pt x="0" y="0"/>
                </a:moveTo>
                <a:lnTo>
                  <a:pt x="15471516" y="0"/>
                </a:lnTo>
                <a:lnTo>
                  <a:pt x="15471516" y="2736749"/>
                </a:lnTo>
                <a:lnTo>
                  <a:pt x="0" y="2736749"/>
                </a:lnTo>
                <a:lnTo>
                  <a:pt x="0" y="0"/>
                </a:lnTo>
                <a:close/>
              </a:path>
            </a:pathLst>
          </a:custGeom>
          <a:blipFill>
            <a:blip r:embed="rId4"/>
            <a:stretch>
              <a:fillRect l="0" t="-2292" r="0" b="-2292"/>
            </a:stretch>
          </a:blipFill>
        </p:spPr>
      </p:sp>
      <p:sp>
        <p:nvSpPr>
          <p:cNvPr name="Freeform 6" id="6"/>
          <p:cNvSpPr/>
          <p:nvPr/>
        </p:nvSpPr>
        <p:spPr>
          <a:xfrm flipH="false" flipV="false" rot="0">
            <a:off x="12913295" y="508071"/>
            <a:ext cx="928468" cy="852502"/>
          </a:xfrm>
          <a:custGeom>
            <a:avLst/>
            <a:gdLst/>
            <a:ahLst/>
            <a:cxnLst/>
            <a:rect r="r" b="b" t="t" l="l"/>
            <a:pathLst>
              <a:path h="852502" w="928468">
                <a:moveTo>
                  <a:pt x="0" y="0"/>
                </a:moveTo>
                <a:lnTo>
                  <a:pt x="928468" y="0"/>
                </a:lnTo>
                <a:lnTo>
                  <a:pt x="928468" y="852502"/>
                </a:lnTo>
                <a:lnTo>
                  <a:pt x="0" y="8525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14350" y="1679087"/>
            <a:ext cx="17259300" cy="1118235"/>
          </a:xfrm>
          <a:prstGeom prst="rect">
            <a:avLst/>
          </a:prstGeom>
        </p:spPr>
        <p:txBody>
          <a:bodyPr anchor="t" rtlCol="false" tIns="0" lIns="0" bIns="0" rIns="0">
            <a:spAutoFit/>
          </a:bodyPr>
          <a:lstStyle/>
          <a:p>
            <a:pPr algn="l">
              <a:lnSpc>
                <a:spcPts val="2939"/>
              </a:lnSpc>
              <a:spcBef>
                <a:spcPct val="0"/>
              </a:spcBef>
            </a:pPr>
            <a:r>
              <a:rPr lang="en-US" b="true" sz="2099">
                <a:solidFill>
                  <a:srgbClr val="FFFFFF"/>
                </a:solidFill>
                <a:latin typeface="Poppins Bold"/>
                <a:ea typeface="Poppins Bold"/>
                <a:cs typeface="Poppins Bold"/>
                <a:sym typeface="Poppins Bold"/>
              </a:rPr>
              <a:t>Ch</a:t>
            </a:r>
            <a:r>
              <a:rPr lang="en-US" b="true" sz="2099">
                <a:solidFill>
                  <a:srgbClr val="FFFFFF"/>
                </a:solidFill>
                <a:latin typeface="Poppins Bold"/>
                <a:ea typeface="Poppins Bold"/>
                <a:cs typeface="Poppins Bold"/>
                <a:sym typeface="Poppins Bold"/>
              </a:rPr>
              <a:t>aque modification du code est automatiquement : testée et vérifiée ,  L’application est automatiquement : buildée et déployée en production</a:t>
            </a:r>
          </a:p>
          <a:p>
            <a:pPr algn="l">
              <a:lnSpc>
                <a:spcPts val="2939"/>
              </a:lnSpc>
              <a:spcBef>
                <a:spcPct val="0"/>
              </a:spcBef>
            </a:pPr>
          </a:p>
        </p:txBody>
      </p:sp>
      <p:sp>
        <p:nvSpPr>
          <p:cNvPr name="TextBox 8" id="8"/>
          <p:cNvSpPr txBox="true"/>
          <p:nvPr/>
        </p:nvSpPr>
        <p:spPr>
          <a:xfrm rot="0">
            <a:off x="497442" y="2740172"/>
            <a:ext cx="7218759" cy="1416050"/>
          </a:xfrm>
          <a:prstGeom prst="rect">
            <a:avLst/>
          </a:prstGeom>
        </p:spPr>
        <p:txBody>
          <a:bodyPr anchor="t" rtlCol="false" tIns="0" lIns="0" bIns="0" rIns="0">
            <a:spAutoFit/>
          </a:bodyPr>
          <a:lstStyle/>
          <a:p>
            <a:pPr algn="l">
              <a:lnSpc>
                <a:spcPts val="2799"/>
              </a:lnSpc>
            </a:pPr>
            <a:r>
              <a:rPr lang="en-US" sz="1999">
                <a:solidFill>
                  <a:srgbClr val="FFFFFF"/>
                </a:solidFill>
                <a:latin typeface="Poppins"/>
                <a:ea typeface="Poppins"/>
                <a:cs typeface="Poppins"/>
                <a:sym typeface="Poppins"/>
              </a:rPr>
              <a:t>Outil : GitLab CI/CD</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Pipeline déclenché automatiquement à chaque push</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Fichier principal : .gitlab-ci.yml</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définir 3 stages </a:t>
            </a:r>
          </a:p>
        </p:txBody>
      </p:sp>
      <p:sp>
        <p:nvSpPr>
          <p:cNvPr name="TextBox 9" id="9"/>
          <p:cNvSpPr txBox="true"/>
          <p:nvPr/>
        </p:nvSpPr>
        <p:spPr>
          <a:xfrm rot="0">
            <a:off x="514350" y="4669286"/>
            <a:ext cx="7342220" cy="1416050"/>
          </a:xfrm>
          <a:prstGeom prst="rect">
            <a:avLst/>
          </a:prstGeom>
        </p:spPr>
        <p:txBody>
          <a:bodyPr anchor="t" rtlCol="false" tIns="0" lIns="0" bIns="0" rIns="0">
            <a:spAutoFit/>
          </a:bodyPr>
          <a:lstStyle/>
          <a:p>
            <a:pPr algn="l">
              <a:lnSpc>
                <a:spcPts val="2799"/>
              </a:lnSpc>
              <a:spcBef>
                <a:spcPct val="0"/>
              </a:spcBef>
            </a:pPr>
            <a:r>
              <a:rPr lang="en-US" sz="1999">
                <a:solidFill>
                  <a:srgbClr val="C71F82"/>
                </a:solidFill>
                <a:latin typeface="Poppins"/>
                <a:ea typeface="Poppins"/>
                <a:cs typeface="Poppins"/>
                <a:sym typeface="Poppins"/>
              </a:rPr>
              <a:t>1</a:t>
            </a:r>
            <a:r>
              <a:rPr lang="en-US" b="true" sz="1999">
                <a:solidFill>
                  <a:srgbClr val="C71F82"/>
                </a:solidFill>
                <a:latin typeface="Poppins Bold"/>
                <a:ea typeface="Poppins Bold"/>
                <a:cs typeface="Poppins Bold"/>
                <a:sym typeface="Poppins Bold"/>
              </a:rPr>
              <a:t>. S</a:t>
            </a:r>
            <a:r>
              <a:rPr lang="en-US" b="true" sz="1999">
                <a:solidFill>
                  <a:srgbClr val="D51D7F"/>
                </a:solidFill>
                <a:latin typeface="Poppins Bold"/>
                <a:ea typeface="Poppins Bold"/>
                <a:cs typeface="Poppins Bold"/>
                <a:sym typeface="Poppins Bold"/>
              </a:rPr>
              <a:t>tage BUILD (Construction)</a:t>
            </a:r>
          </a:p>
          <a:p>
            <a:pPr algn="l">
              <a:lnSpc>
                <a:spcPts val="2799"/>
              </a:lnSpc>
              <a:spcBef>
                <a:spcPct val="0"/>
              </a:spcBef>
            </a:pPr>
            <a:r>
              <a:rPr lang="en-US" sz="1999">
                <a:solidFill>
                  <a:srgbClr val="FFFFFF"/>
                </a:solidFill>
                <a:latin typeface="Poppins"/>
                <a:ea typeface="Poppins"/>
                <a:cs typeface="Poppins"/>
                <a:sym typeface="Poppins"/>
              </a:rPr>
              <a:t> Rôle : Construire et publier l’image Docker</a:t>
            </a:r>
          </a:p>
          <a:p>
            <a:pPr algn="l">
              <a:lnSpc>
                <a:spcPts val="2799"/>
              </a:lnSpc>
              <a:spcBef>
                <a:spcPct val="0"/>
              </a:spcBef>
            </a:pPr>
            <a:r>
              <a:rPr lang="en-US" sz="1999">
                <a:solidFill>
                  <a:srgbClr val="FFFFFF"/>
                </a:solidFill>
                <a:latin typeface="Poppins"/>
                <a:ea typeface="Poppins"/>
                <a:cs typeface="Poppins"/>
                <a:sym typeface="Poppins"/>
              </a:rPr>
              <a:t> Résultat :</a:t>
            </a:r>
            <a:r>
              <a:rPr lang="en-US" sz="1999">
                <a:solidFill>
                  <a:srgbClr val="FFFFFF"/>
                </a:solidFill>
                <a:latin typeface="Poppins"/>
                <a:ea typeface="Poppins"/>
                <a:cs typeface="Poppins"/>
                <a:sym typeface="Poppins"/>
              </a:rPr>
              <a:t> </a:t>
            </a:r>
            <a:r>
              <a:rPr lang="en-US" sz="1999">
                <a:solidFill>
                  <a:srgbClr val="FFFFFF"/>
                </a:solidFill>
                <a:latin typeface="Poppins"/>
                <a:ea typeface="Poppins"/>
                <a:cs typeface="Poppins"/>
                <a:sym typeface="Poppins"/>
              </a:rPr>
              <a:t>Image disponible :</a:t>
            </a:r>
          </a:p>
          <a:p>
            <a:pPr algn="l">
              <a:lnSpc>
                <a:spcPts val="2799"/>
              </a:lnSpc>
              <a:spcBef>
                <a:spcPct val="0"/>
              </a:spcBef>
            </a:pPr>
            <a:r>
              <a:rPr lang="en-US" sz="1999">
                <a:solidFill>
                  <a:srgbClr val="FFFFFF"/>
                </a:solidFill>
                <a:latin typeface="Poppins"/>
                <a:ea typeface="Poppins"/>
                <a:cs typeface="Poppins"/>
                <a:sym typeface="Poppins"/>
              </a:rPr>
              <a:t>uiaam/swap-flask-app:latest</a:t>
            </a:r>
          </a:p>
        </p:txBody>
      </p:sp>
      <p:sp>
        <p:nvSpPr>
          <p:cNvPr name="TextBox 10" id="10"/>
          <p:cNvSpPr txBox="true"/>
          <p:nvPr/>
        </p:nvSpPr>
        <p:spPr>
          <a:xfrm rot="0">
            <a:off x="9799426" y="2740172"/>
            <a:ext cx="7342220" cy="1416050"/>
          </a:xfrm>
          <a:prstGeom prst="rect">
            <a:avLst/>
          </a:prstGeom>
        </p:spPr>
        <p:txBody>
          <a:bodyPr anchor="t" rtlCol="false" tIns="0" lIns="0" bIns="0" rIns="0">
            <a:spAutoFit/>
          </a:bodyPr>
          <a:lstStyle/>
          <a:p>
            <a:pPr algn="l">
              <a:lnSpc>
                <a:spcPts val="2799"/>
              </a:lnSpc>
              <a:spcBef>
                <a:spcPct val="0"/>
              </a:spcBef>
            </a:pPr>
            <a:r>
              <a:rPr lang="en-US" sz="1999">
                <a:solidFill>
                  <a:srgbClr val="C71F82"/>
                </a:solidFill>
                <a:latin typeface="Poppins"/>
                <a:ea typeface="Poppins"/>
                <a:cs typeface="Poppins"/>
                <a:sym typeface="Poppins"/>
              </a:rPr>
              <a:t> </a:t>
            </a:r>
            <a:r>
              <a:rPr lang="en-US" b="true" sz="1999">
                <a:solidFill>
                  <a:srgbClr val="C71F82"/>
                </a:solidFill>
                <a:latin typeface="Poppins Bold"/>
                <a:ea typeface="Poppins Bold"/>
                <a:cs typeface="Poppins Bold"/>
                <a:sym typeface="Poppins Bold"/>
              </a:rPr>
              <a:t>2</a:t>
            </a:r>
            <a:r>
              <a:rPr lang="en-US" b="true" sz="1999">
                <a:solidFill>
                  <a:srgbClr val="C71F82"/>
                </a:solidFill>
                <a:latin typeface="Poppins Bold"/>
                <a:ea typeface="Poppins Bold"/>
                <a:cs typeface="Poppins Bold"/>
                <a:sym typeface="Poppins Bold"/>
              </a:rPr>
              <a:t>. Stage TEST ( unitaires )</a:t>
            </a:r>
          </a:p>
          <a:p>
            <a:pPr algn="l">
              <a:lnSpc>
                <a:spcPts val="2799"/>
              </a:lnSpc>
              <a:spcBef>
                <a:spcPct val="0"/>
              </a:spcBef>
            </a:pPr>
            <a:r>
              <a:rPr lang="en-US" sz="1999">
                <a:solidFill>
                  <a:srgbClr val="FFFFFF"/>
                </a:solidFill>
                <a:latin typeface="Poppins"/>
                <a:ea typeface="Poppins"/>
                <a:cs typeface="Poppins"/>
                <a:sym typeface="Poppins"/>
              </a:rPr>
              <a:t> Rôle : Vérifier que ton code fonctionne correctement</a:t>
            </a:r>
          </a:p>
          <a:p>
            <a:pPr algn="l">
              <a:lnSpc>
                <a:spcPts val="2799"/>
              </a:lnSpc>
              <a:spcBef>
                <a:spcPct val="0"/>
              </a:spcBef>
            </a:pPr>
            <a:r>
              <a:rPr lang="en-US" sz="1999">
                <a:solidFill>
                  <a:srgbClr val="FFFFFF"/>
                </a:solidFill>
                <a:latin typeface="Poppins"/>
                <a:ea typeface="Poppins"/>
                <a:cs typeface="Poppins"/>
                <a:sym typeface="Poppins"/>
              </a:rPr>
              <a:t> </a:t>
            </a:r>
            <a:r>
              <a:rPr lang="en-US" sz="1999">
                <a:solidFill>
                  <a:srgbClr val="FFFFFF"/>
                </a:solidFill>
                <a:latin typeface="Poppins"/>
                <a:ea typeface="Poppins"/>
                <a:cs typeface="Poppins"/>
                <a:sym typeface="Poppins"/>
              </a:rPr>
              <a:t>Résultat : Code validé et sécurisé</a:t>
            </a:r>
          </a:p>
          <a:p>
            <a:pPr algn="l">
              <a:lnSpc>
                <a:spcPts val="2799"/>
              </a:lnSpc>
              <a:spcBef>
                <a:spcPct val="0"/>
              </a:spcBef>
            </a:pPr>
          </a:p>
        </p:txBody>
      </p:sp>
      <p:sp>
        <p:nvSpPr>
          <p:cNvPr name="TextBox 11" id="11"/>
          <p:cNvSpPr txBox="true"/>
          <p:nvPr/>
        </p:nvSpPr>
        <p:spPr>
          <a:xfrm rot="0">
            <a:off x="9799426" y="4669286"/>
            <a:ext cx="7342220" cy="1063625"/>
          </a:xfrm>
          <a:prstGeom prst="rect">
            <a:avLst/>
          </a:prstGeom>
        </p:spPr>
        <p:txBody>
          <a:bodyPr anchor="t" rtlCol="false" tIns="0" lIns="0" bIns="0" rIns="0">
            <a:spAutoFit/>
          </a:bodyPr>
          <a:lstStyle/>
          <a:p>
            <a:pPr algn="l">
              <a:lnSpc>
                <a:spcPts val="2799"/>
              </a:lnSpc>
              <a:spcBef>
                <a:spcPct val="0"/>
              </a:spcBef>
            </a:pPr>
            <a:r>
              <a:rPr lang="en-US" b="true" sz="1999">
                <a:solidFill>
                  <a:srgbClr val="C71F82"/>
                </a:solidFill>
                <a:latin typeface="Poppins Bold"/>
                <a:ea typeface="Poppins Bold"/>
                <a:cs typeface="Poppins Bold"/>
                <a:sym typeface="Poppins Bold"/>
              </a:rPr>
              <a:t>3</a:t>
            </a:r>
            <a:r>
              <a:rPr lang="en-US" b="true" sz="1999">
                <a:solidFill>
                  <a:srgbClr val="C71F82"/>
                </a:solidFill>
                <a:latin typeface="Poppins Bold"/>
                <a:ea typeface="Poppins Bold"/>
                <a:cs typeface="Poppins Bold"/>
                <a:sym typeface="Poppins Bold"/>
              </a:rPr>
              <a:t>. Stage DEPLOY</a:t>
            </a:r>
          </a:p>
          <a:p>
            <a:pPr algn="l">
              <a:lnSpc>
                <a:spcPts val="2799"/>
              </a:lnSpc>
              <a:spcBef>
                <a:spcPct val="0"/>
              </a:spcBef>
            </a:pPr>
            <a:r>
              <a:rPr lang="en-US" sz="1999">
                <a:solidFill>
                  <a:srgbClr val="FFFFFF"/>
                </a:solidFill>
                <a:latin typeface="Poppins"/>
                <a:ea typeface="Poppins"/>
                <a:cs typeface="Poppins"/>
                <a:sym typeface="Poppins"/>
              </a:rPr>
              <a:t> Rôle : Déployer l’application sur Kubernetes</a:t>
            </a:r>
          </a:p>
          <a:p>
            <a:pPr algn="l">
              <a:lnSpc>
                <a:spcPts val="2799"/>
              </a:lnSpc>
              <a:spcBef>
                <a:spcPct val="0"/>
              </a:spcBef>
            </a:pPr>
            <a:r>
              <a:rPr lang="en-US" sz="1999">
                <a:solidFill>
                  <a:srgbClr val="FFFFFF"/>
                </a:solidFill>
                <a:latin typeface="Poppins"/>
                <a:ea typeface="Poppins"/>
                <a:cs typeface="Poppins"/>
                <a:sym typeface="Poppins"/>
              </a:rPr>
              <a:t>Résultat :</a:t>
            </a:r>
            <a:r>
              <a:rPr lang="en-US" sz="1999">
                <a:solidFill>
                  <a:srgbClr val="FFFFFF"/>
                </a:solidFill>
                <a:latin typeface="Poppins"/>
                <a:ea typeface="Poppins"/>
                <a:cs typeface="Poppins"/>
                <a:sym typeface="Poppins"/>
              </a:rPr>
              <a:t> Applic</a:t>
            </a:r>
            <a:r>
              <a:rPr lang="en-US" sz="1999">
                <a:solidFill>
                  <a:srgbClr val="FFFFFF"/>
                </a:solidFill>
                <a:latin typeface="Poppins"/>
                <a:ea typeface="Poppins"/>
                <a:cs typeface="Poppins"/>
                <a:sym typeface="Poppins"/>
              </a:rPr>
              <a:t>ation mise à jour en ligne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1184083">
            <a:off x="6431348" y="774037"/>
            <a:ext cx="5755537" cy="6731622"/>
          </a:xfrm>
          <a:custGeom>
            <a:avLst/>
            <a:gdLst/>
            <a:ahLst/>
            <a:cxnLst/>
            <a:rect r="r" b="b" t="t" l="l"/>
            <a:pathLst>
              <a:path h="6731622" w="5755537">
                <a:moveTo>
                  <a:pt x="5755537" y="6731622"/>
                </a:moveTo>
                <a:lnTo>
                  <a:pt x="0" y="6731622"/>
                </a:lnTo>
                <a:lnTo>
                  <a:pt x="0" y="0"/>
                </a:lnTo>
                <a:lnTo>
                  <a:pt x="5755537" y="0"/>
                </a:lnTo>
                <a:lnTo>
                  <a:pt x="5755537" y="6731622"/>
                </a:lnTo>
                <a:close/>
              </a:path>
            </a:pathLst>
          </a:custGeom>
          <a:blipFill>
            <a:blip r:embed="rId2">
              <a:alphaModFix amt="19999"/>
            </a:blip>
            <a:stretch>
              <a:fillRect l="0" t="0" r="0" b="0"/>
            </a:stretch>
          </a:blipFill>
        </p:spPr>
      </p:sp>
      <p:sp>
        <p:nvSpPr>
          <p:cNvPr name="TextBox 3" id="3"/>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grpSp>
        <p:nvGrpSpPr>
          <p:cNvPr name="Group 4" id="4"/>
          <p:cNvGrpSpPr/>
          <p:nvPr/>
        </p:nvGrpSpPr>
        <p:grpSpPr>
          <a:xfrm rot="0">
            <a:off x="8334438" y="886061"/>
            <a:ext cx="1704988" cy="593627"/>
            <a:chOff x="0" y="0"/>
            <a:chExt cx="240327" cy="83675"/>
          </a:xfrm>
        </p:grpSpPr>
        <p:sp>
          <p:nvSpPr>
            <p:cNvPr name="Freeform 5" id="5"/>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6" id="6"/>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6754185" y="4440486"/>
            <a:ext cx="1010230" cy="101023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9" id="9"/>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0" id="10"/>
          <p:cNvGrpSpPr/>
          <p:nvPr/>
        </p:nvGrpSpPr>
        <p:grpSpPr>
          <a:xfrm rot="0">
            <a:off x="16886512" y="5985800"/>
            <a:ext cx="745577" cy="7455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2" id="12"/>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grpSp>
        <p:nvGrpSpPr>
          <p:cNvPr name="Group 13" id="13"/>
          <p:cNvGrpSpPr/>
          <p:nvPr/>
        </p:nvGrpSpPr>
        <p:grpSpPr>
          <a:xfrm rot="0">
            <a:off x="16886512" y="3159825"/>
            <a:ext cx="745577" cy="7455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5" id="15"/>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16" id="16"/>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sp>
        <p:nvSpPr>
          <p:cNvPr name="TextBox 17" id="17"/>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sp>
        <p:nvSpPr>
          <p:cNvPr name="TextBox 18" id="18"/>
          <p:cNvSpPr txBox="true"/>
          <p:nvPr/>
        </p:nvSpPr>
        <p:spPr>
          <a:xfrm rot="0">
            <a:off x="2788666" y="2141285"/>
            <a:ext cx="13040901" cy="1018540"/>
          </a:xfrm>
          <a:prstGeom prst="rect">
            <a:avLst/>
          </a:prstGeom>
        </p:spPr>
        <p:txBody>
          <a:bodyPr anchor="t" rtlCol="false" tIns="0" lIns="0" bIns="0" rIns="0">
            <a:spAutoFit/>
          </a:bodyPr>
          <a:lstStyle/>
          <a:p>
            <a:pPr algn="l">
              <a:lnSpc>
                <a:spcPts val="7279"/>
              </a:lnSpc>
            </a:pPr>
            <a:r>
              <a:rPr lang="en-US" sz="6999" b="true">
                <a:solidFill>
                  <a:srgbClr val="FFFFFF"/>
                </a:solidFill>
                <a:latin typeface="Poppins Bold"/>
                <a:ea typeface="Poppins Bold"/>
                <a:cs typeface="Poppins Bold"/>
                <a:sym typeface="Poppins Bold"/>
              </a:rPr>
              <a:t>Conclusion et </a:t>
            </a:r>
            <a:r>
              <a:rPr lang="en-US" sz="6999" b="true">
                <a:solidFill>
                  <a:srgbClr val="3147B9"/>
                </a:solidFill>
                <a:latin typeface="Poppins Bold"/>
                <a:ea typeface="Poppins Bold"/>
                <a:cs typeface="Poppins Bold"/>
                <a:sym typeface="Poppins Bold"/>
              </a:rPr>
              <a:t>perspectives</a:t>
            </a:r>
          </a:p>
        </p:txBody>
      </p:sp>
      <p:sp>
        <p:nvSpPr>
          <p:cNvPr name="TextBox 19" id="19"/>
          <p:cNvSpPr txBox="true"/>
          <p:nvPr/>
        </p:nvSpPr>
        <p:spPr>
          <a:xfrm rot="0">
            <a:off x="16754185" y="4766752"/>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sp>
        <p:nvSpPr>
          <p:cNvPr name="TextBox 20" id="20"/>
          <p:cNvSpPr txBox="true"/>
          <p:nvPr/>
        </p:nvSpPr>
        <p:spPr>
          <a:xfrm rot="0">
            <a:off x="16886512" y="6231584"/>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sp>
        <p:nvSpPr>
          <p:cNvPr name="TextBox 21" id="21"/>
          <p:cNvSpPr txBox="true"/>
          <p:nvPr/>
        </p:nvSpPr>
        <p:spPr>
          <a:xfrm rot="0">
            <a:off x="16886512" y="3405608"/>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grpSp>
        <p:nvGrpSpPr>
          <p:cNvPr name="Group 22" id="22"/>
          <p:cNvGrpSpPr/>
          <p:nvPr/>
        </p:nvGrpSpPr>
        <p:grpSpPr>
          <a:xfrm rot="0">
            <a:off x="424398" y="4044932"/>
            <a:ext cx="807119" cy="80711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5400000">
            <a:off x="677145" y="4316531"/>
            <a:ext cx="301625" cy="263922"/>
            <a:chOff x="0" y="0"/>
            <a:chExt cx="812800" cy="711200"/>
          </a:xfrm>
        </p:grpSpPr>
        <p:sp>
          <p:nvSpPr>
            <p:cNvPr name="Freeform 26" id="2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D51D7F"/>
            </a:solidFill>
          </p:spPr>
        </p:sp>
        <p:sp>
          <p:nvSpPr>
            <p:cNvPr name="TextBox 27" id="27"/>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sp>
        <p:nvSpPr>
          <p:cNvPr name="TextBox 28" id="28"/>
          <p:cNvSpPr txBox="true"/>
          <p:nvPr/>
        </p:nvSpPr>
        <p:spPr>
          <a:xfrm rot="0">
            <a:off x="1469642" y="3955419"/>
            <a:ext cx="8569784" cy="30702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Le</a:t>
            </a:r>
            <a:r>
              <a:rPr lang="en-US" sz="2499">
                <a:solidFill>
                  <a:srgbClr val="FFFFFF"/>
                </a:solidFill>
                <a:latin typeface="Poppins"/>
                <a:ea typeface="Poppins"/>
                <a:cs typeface="Poppins"/>
                <a:sym typeface="Poppins"/>
              </a:rPr>
              <a:t> projet a permis de </a:t>
            </a:r>
            <a:r>
              <a:rPr lang="en-US" sz="2499">
                <a:solidFill>
                  <a:srgbClr val="FFFFFF"/>
                </a:solidFill>
                <a:latin typeface="Poppins"/>
                <a:ea typeface="Poppins"/>
                <a:cs typeface="Poppins"/>
                <a:sym typeface="Poppins"/>
              </a:rPr>
              <a:t>déployer une infrastructure</a:t>
            </a:r>
            <a:r>
              <a:rPr lang="en-US" sz="2499">
                <a:solidFill>
                  <a:srgbClr val="FFFFFF"/>
                </a:solidFill>
                <a:latin typeface="Poppins"/>
                <a:ea typeface="Poppins"/>
                <a:cs typeface="Poppins"/>
                <a:sym typeface="Poppins"/>
              </a:rPr>
              <a:t> DevOps complète, avec une application web conteneurisée, orchestrée sur Kubernetes </a:t>
            </a:r>
            <a:r>
              <a:rPr lang="en-US" sz="2499">
                <a:solidFill>
                  <a:srgbClr val="FFFFFF"/>
                </a:solidFill>
                <a:latin typeface="Poppins"/>
                <a:ea typeface="Poppins"/>
                <a:cs typeface="Poppins"/>
                <a:sym typeface="Poppins"/>
              </a:rPr>
              <a:t>e</a:t>
            </a:r>
            <a:r>
              <a:rPr lang="en-US" sz="2499">
                <a:solidFill>
                  <a:srgbClr val="FFFFFF"/>
                </a:solidFill>
                <a:latin typeface="Poppins"/>
                <a:ea typeface="Poppins"/>
                <a:cs typeface="Poppins"/>
                <a:sym typeface="Poppins"/>
              </a:rPr>
              <a:t>t</a:t>
            </a:r>
            <a:r>
              <a:rPr lang="en-US" sz="2499">
                <a:solidFill>
                  <a:srgbClr val="FFFFFF"/>
                </a:solidFill>
                <a:latin typeface="Poppins"/>
                <a:ea typeface="Poppins"/>
                <a:cs typeface="Poppins"/>
                <a:sym typeface="Poppins"/>
              </a:rPr>
              <a:t> </a:t>
            </a:r>
            <a:r>
              <a:rPr lang="en-US" sz="2499">
                <a:solidFill>
                  <a:srgbClr val="FFFFFF"/>
                </a:solidFill>
                <a:latin typeface="Poppins"/>
                <a:ea typeface="Poppins"/>
                <a:cs typeface="Poppins"/>
                <a:sym typeface="Poppins"/>
              </a:rPr>
              <a:t>auto</a:t>
            </a:r>
            <a:r>
              <a:rPr lang="en-US" sz="2499">
                <a:solidFill>
                  <a:srgbClr val="FFFFFF"/>
                </a:solidFill>
                <a:latin typeface="Poppins"/>
                <a:ea typeface="Poppins"/>
                <a:cs typeface="Poppins"/>
                <a:sym typeface="Poppins"/>
              </a:rPr>
              <a:t>m</a:t>
            </a:r>
            <a:r>
              <a:rPr lang="en-US" sz="2499">
                <a:solidFill>
                  <a:srgbClr val="FFFFFF"/>
                </a:solidFill>
                <a:latin typeface="Poppins"/>
                <a:ea typeface="Poppins"/>
                <a:cs typeface="Poppins"/>
                <a:sym typeface="Poppins"/>
              </a:rPr>
              <a:t>atis</a:t>
            </a:r>
            <a:r>
              <a:rPr lang="en-US" sz="2499">
                <a:solidFill>
                  <a:srgbClr val="FFFFFF"/>
                </a:solidFill>
                <a:latin typeface="Poppins"/>
                <a:ea typeface="Poppins"/>
                <a:cs typeface="Poppins"/>
                <a:sym typeface="Poppins"/>
              </a:rPr>
              <a:t>ée</a:t>
            </a:r>
            <a:r>
              <a:rPr lang="en-US" sz="2499">
                <a:solidFill>
                  <a:srgbClr val="FFFFFF"/>
                </a:solidFill>
                <a:latin typeface="Poppins"/>
                <a:ea typeface="Poppins"/>
                <a:cs typeface="Poppins"/>
                <a:sym typeface="Poppins"/>
              </a:rPr>
              <a:t> via</a:t>
            </a:r>
            <a:r>
              <a:rPr lang="en-US" sz="2499">
                <a:solidFill>
                  <a:srgbClr val="FFFFFF"/>
                </a:solidFill>
                <a:latin typeface="Poppins"/>
                <a:ea typeface="Poppins"/>
                <a:cs typeface="Poppins"/>
                <a:sym typeface="Poppins"/>
              </a:rPr>
              <a:t> </a:t>
            </a:r>
            <a:r>
              <a:rPr lang="en-US" sz="2499">
                <a:solidFill>
                  <a:srgbClr val="FFFFFF"/>
                </a:solidFill>
                <a:latin typeface="Poppins"/>
                <a:ea typeface="Poppins"/>
                <a:cs typeface="Poppins"/>
                <a:sym typeface="Poppins"/>
              </a:rPr>
              <a:t>Ter</a:t>
            </a:r>
            <a:r>
              <a:rPr lang="en-US" sz="2499">
                <a:solidFill>
                  <a:srgbClr val="FFFFFF"/>
                </a:solidFill>
                <a:latin typeface="Poppins"/>
                <a:ea typeface="Poppins"/>
                <a:cs typeface="Poppins"/>
                <a:sym typeface="Poppins"/>
              </a:rPr>
              <a:t>ra</a:t>
            </a:r>
            <a:r>
              <a:rPr lang="en-US" sz="2499">
                <a:solidFill>
                  <a:srgbClr val="FFFFFF"/>
                </a:solidFill>
                <a:latin typeface="Poppins"/>
                <a:ea typeface="Poppins"/>
                <a:cs typeface="Poppins"/>
                <a:sym typeface="Poppins"/>
              </a:rPr>
              <a:t>f</a:t>
            </a:r>
            <a:r>
              <a:rPr lang="en-US" sz="2499">
                <a:solidFill>
                  <a:srgbClr val="FFFFFF"/>
                </a:solidFill>
                <a:latin typeface="Poppins"/>
                <a:ea typeface="Poppins"/>
                <a:cs typeface="Poppins"/>
                <a:sym typeface="Poppins"/>
              </a:rPr>
              <a:t>o</a:t>
            </a:r>
            <a:r>
              <a:rPr lang="en-US" sz="2499">
                <a:solidFill>
                  <a:srgbClr val="FFFFFF"/>
                </a:solidFill>
                <a:latin typeface="Poppins"/>
                <a:ea typeface="Poppins"/>
                <a:cs typeface="Poppins"/>
                <a:sym typeface="Poppins"/>
              </a:rPr>
              <a:t>rm, A</a:t>
            </a:r>
            <a:r>
              <a:rPr lang="en-US" sz="2499">
                <a:solidFill>
                  <a:srgbClr val="FFFFFF"/>
                </a:solidFill>
                <a:latin typeface="Poppins"/>
                <a:ea typeface="Poppins"/>
                <a:cs typeface="Poppins"/>
                <a:sym typeface="Poppins"/>
              </a:rPr>
              <a:t>n</a:t>
            </a:r>
            <a:r>
              <a:rPr lang="en-US" sz="2499">
                <a:solidFill>
                  <a:srgbClr val="FFFFFF"/>
                </a:solidFill>
                <a:latin typeface="Poppins"/>
                <a:ea typeface="Poppins"/>
                <a:cs typeface="Poppins"/>
                <a:sym typeface="Poppins"/>
              </a:rPr>
              <a:t>sib</a:t>
            </a:r>
            <a:r>
              <a:rPr lang="en-US" sz="2499">
                <a:solidFill>
                  <a:srgbClr val="FFFFFF"/>
                </a:solidFill>
                <a:latin typeface="Poppins"/>
                <a:ea typeface="Poppins"/>
                <a:cs typeface="Poppins"/>
                <a:sym typeface="Poppins"/>
              </a:rPr>
              <a:t>le</a:t>
            </a:r>
            <a:r>
              <a:rPr lang="en-US" sz="2499">
                <a:solidFill>
                  <a:srgbClr val="FFFFFF"/>
                </a:solidFill>
                <a:latin typeface="Poppins"/>
                <a:ea typeface="Poppins"/>
                <a:cs typeface="Poppins"/>
                <a:sym typeface="Poppins"/>
              </a:rPr>
              <a:t> et</a:t>
            </a:r>
            <a:r>
              <a:rPr lang="en-US" sz="2499">
                <a:solidFill>
                  <a:srgbClr val="FFFFFF"/>
                </a:solidFill>
                <a:latin typeface="Poppins"/>
                <a:ea typeface="Poppins"/>
                <a:cs typeface="Poppins"/>
                <a:sym typeface="Poppins"/>
              </a:rPr>
              <a:t> un pipeline CI/CD GitLab. Le déploiement est fiable, rapide et reproductible, illustrant les principes DevOps en pratique.</a:t>
            </a:r>
          </a:p>
        </p:txBody>
      </p:sp>
      <p:grpSp>
        <p:nvGrpSpPr>
          <p:cNvPr name="Group 29" id="29"/>
          <p:cNvGrpSpPr/>
          <p:nvPr/>
        </p:nvGrpSpPr>
        <p:grpSpPr>
          <a:xfrm rot="0">
            <a:off x="8096264" y="7123655"/>
            <a:ext cx="807119" cy="80711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5400000">
            <a:off x="8349011" y="7395253"/>
            <a:ext cx="301625" cy="263922"/>
            <a:chOff x="0" y="0"/>
            <a:chExt cx="812800" cy="711200"/>
          </a:xfrm>
        </p:grpSpPr>
        <p:sp>
          <p:nvSpPr>
            <p:cNvPr name="Freeform 33" id="3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D51D7F"/>
            </a:solidFill>
          </p:spPr>
        </p:sp>
        <p:sp>
          <p:nvSpPr>
            <p:cNvPr name="TextBox 34" id="34"/>
            <p:cNvSpPr txBox="true"/>
            <p:nvPr/>
          </p:nvSpPr>
          <p:spPr>
            <a:xfrm>
              <a:off x="127000" y="273050"/>
              <a:ext cx="558800" cy="387350"/>
            </a:xfrm>
            <a:prstGeom prst="rect">
              <a:avLst/>
            </a:prstGeom>
          </p:spPr>
          <p:txBody>
            <a:bodyPr anchor="ctr" rtlCol="false" tIns="50800" lIns="50800" bIns="50800" rIns="50800"/>
            <a:lstStyle/>
            <a:p>
              <a:pPr algn="ctr">
                <a:lnSpc>
                  <a:spcPts val="2799"/>
                </a:lnSpc>
              </a:pPr>
            </a:p>
          </p:txBody>
        </p:sp>
      </p:grpSp>
      <p:sp>
        <p:nvSpPr>
          <p:cNvPr name="TextBox 35" id="35"/>
          <p:cNvSpPr txBox="true"/>
          <p:nvPr/>
        </p:nvSpPr>
        <p:spPr>
          <a:xfrm rot="0">
            <a:off x="9309117" y="7056980"/>
            <a:ext cx="8121706" cy="2632075"/>
          </a:xfrm>
          <a:prstGeom prst="rect">
            <a:avLst/>
          </a:prstGeom>
        </p:spPr>
        <p:txBody>
          <a:bodyPr anchor="t" rtlCol="false" tIns="0" lIns="0" bIns="0" rIns="0">
            <a:spAutoFit/>
          </a:bodyPr>
          <a:lstStyle/>
          <a:p>
            <a:pPr algn="just" marL="0" indent="0" lvl="0">
              <a:lnSpc>
                <a:spcPts val="3499"/>
              </a:lnSpc>
              <a:spcBef>
                <a:spcPct val="0"/>
              </a:spcBef>
            </a:pPr>
            <a:r>
              <a:rPr lang="en-US" sz="2499" strike="noStrike" u="none">
                <a:solidFill>
                  <a:srgbClr val="FFFFFF"/>
                </a:solidFill>
                <a:latin typeface="Poppins"/>
                <a:ea typeface="Poppins"/>
                <a:cs typeface="Poppins"/>
                <a:sym typeface="Poppins"/>
              </a:rPr>
              <a:t>Il serait intéressant d’ajouter du monitoring (Prometheus/Grafana), renforcer la sécurité (HTTPS, RBAC) et mettre en place la scalabilité automatique pour un système encore plus robuste et adapté à la production.</a:t>
            </a:r>
          </a:p>
          <a:p>
            <a:pPr algn="just" marL="0" indent="0" lvl="0">
              <a:lnSpc>
                <a:spcPts val="349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184083">
            <a:off x="6266232" y="1272574"/>
            <a:ext cx="5755537" cy="6731622"/>
          </a:xfrm>
          <a:custGeom>
            <a:avLst/>
            <a:gdLst/>
            <a:ahLst/>
            <a:cxnLst/>
            <a:rect r="r" b="b" t="t" l="l"/>
            <a:pathLst>
              <a:path h="6731622" w="5755537">
                <a:moveTo>
                  <a:pt x="0" y="0"/>
                </a:moveTo>
                <a:lnTo>
                  <a:pt x="5755536" y="0"/>
                </a:lnTo>
                <a:lnTo>
                  <a:pt x="5755536" y="6731622"/>
                </a:lnTo>
                <a:lnTo>
                  <a:pt x="0" y="6731622"/>
                </a:lnTo>
                <a:lnTo>
                  <a:pt x="0" y="0"/>
                </a:lnTo>
                <a:close/>
              </a:path>
            </a:pathLst>
          </a:custGeom>
          <a:blipFill>
            <a:blip r:embed="rId2">
              <a:alphaModFix amt="19999"/>
            </a:blip>
            <a:stretch>
              <a:fillRect l="0" t="0" r="0" b="0"/>
            </a:stretch>
          </a:blipFill>
        </p:spPr>
      </p:sp>
      <p:sp>
        <p:nvSpPr>
          <p:cNvPr name="TextBox 3" id="3"/>
          <p:cNvSpPr txBox="true"/>
          <p:nvPr/>
        </p:nvSpPr>
        <p:spPr>
          <a:xfrm rot="0">
            <a:off x="8722986" y="974929"/>
            <a:ext cx="927891"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About</a:t>
            </a:r>
          </a:p>
        </p:txBody>
      </p:sp>
      <p:sp>
        <p:nvSpPr>
          <p:cNvPr name="TextBox 4" id="4"/>
          <p:cNvSpPr txBox="true"/>
          <p:nvPr/>
        </p:nvSpPr>
        <p:spPr>
          <a:xfrm rot="0">
            <a:off x="1157962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4F4F4"/>
                </a:solidFill>
                <a:latin typeface="Poppins"/>
                <a:ea typeface="Poppins"/>
                <a:cs typeface="Poppins"/>
                <a:sym typeface="Poppins"/>
              </a:rPr>
              <a:t>Contact</a:t>
            </a:r>
          </a:p>
        </p:txBody>
      </p:sp>
      <p:sp>
        <p:nvSpPr>
          <p:cNvPr name="TextBox 5" id="5"/>
          <p:cNvSpPr txBox="true"/>
          <p:nvPr/>
        </p:nvSpPr>
        <p:spPr>
          <a:xfrm rot="0">
            <a:off x="5171000" y="974929"/>
            <a:ext cx="1537379" cy="358742"/>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Home</a:t>
            </a:r>
          </a:p>
        </p:txBody>
      </p:sp>
      <p:grpSp>
        <p:nvGrpSpPr>
          <p:cNvPr name="Group 6" id="6"/>
          <p:cNvGrpSpPr/>
          <p:nvPr/>
        </p:nvGrpSpPr>
        <p:grpSpPr>
          <a:xfrm rot="0">
            <a:off x="8334438" y="886061"/>
            <a:ext cx="1704988" cy="593627"/>
            <a:chOff x="0" y="0"/>
            <a:chExt cx="240327" cy="83675"/>
          </a:xfrm>
        </p:grpSpPr>
        <p:sp>
          <p:nvSpPr>
            <p:cNvPr name="Freeform 7" id="7"/>
            <p:cNvSpPr/>
            <p:nvPr/>
          </p:nvSpPr>
          <p:spPr>
            <a:xfrm flipH="false" flipV="false" rot="0">
              <a:off x="0" y="0"/>
              <a:ext cx="240327" cy="83675"/>
            </a:xfrm>
            <a:custGeom>
              <a:avLst/>
              <a:gdLst/>
              <a:ahLst/>
              <a:cxnLst/>
              <a:rect r="r" b="b" t="t" l="l"/>
              <a:pathLst>
                <a:path h="83675" w="240327">
                  <a:moveTo>
                    <a:pt x="41838" y="0"/>
                  </a:moveTo>
                  <a:lnTo>
                    <a:pt x="198490" y="0"/>
                  </a:lnTo>
                  <a:cubicBezTo>
                    <a:pt x="209586" y="0"/>
                    <a:pt x="220227" y="4408"/>
                    <a:pt x="228074" y="12254"/>
                  </a:cubicBezTo>
                  <a:cubicBezTo>
                    <a:pt x="235920" y="20100"/>
                    <a:pt x="240327" y="30742"/>
                    <a:pt x="240327" y="41838"/>
                  </a:cubicBezTo>
                  <a:lnTo>
                    <a:pt x="240327" y="41838"/>
                  </a:lnTo>
                  <a:cubicBezTo>
                    <a:pt x="240327" y="64944"/>
                    <a:pt x="221596" y="83675"/>
                    <a:pt x="198490" y="83675"/>
                  </a:cubicBezTo>
                  <a:lnTo>
                    <a:pt x="41838" y="83675"/>
                  </a:lnTo>
                  <a:cubicBezTo>
                    <a:pt x="30742" y="83675"/>
                    <a:pt x="20100" y="79267"/>
                    <a:pt x="12254" y="71421"/>
                  </a:cubicBezTo>
                  <a:cubicBezTo>
                    <a:pt x="4408" y="63575"/>
                    <a:pt x="0" y="52934"/>
                    <a:pt x="0" y="41838"/>
                  </a:cubicBezTo>
                  <a:lnTo>
                    <a:pt x="0" y="41838"/>
                  </a:lnTo>
                  <a:cubicBezTo>
                    <a:pt x="0" y="30742"/>
                    <a:pt x="4408" y="20100"/>
                    <a:pt x="12254" y="12254"/>
                  </a:cubicBezTo>
                  <a:cubicBezTo>
                    <a:pt x="20100" y="4408"/>
                    <a:pt x="30742" y="0"/>
                    <a:pt x="41838"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8" id="8"/>
            <p:cNvSpPr txBox="true"/>
            <p:nvPr/>
          </p:nvSpPr>
          <p:spPr>
            <a:xfrm>
              <a:off x="0" y="-38100"/>
              <a:ext cx="240327" cy="121775"/>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625226" y="4622176"/>
            <a:ext cx="8166308" cy="1505089"/>
          </a:xfrm>
          <a:prstGeom prst="rect">
            <a:avLst/>
          </a:prstGeom>
        </p:spPr>
        <p:txBody>
          <a:bodyPr anchor="t" rtlCol="false" tIns="0" lIns="0" bIns="0" rIns="0">
            <a:spAutoFit/>
          </a:bodyPr>
          <a:lstStyle/>
          <a:p>
            <a:pPr algn="l">
              <a:lnSpc>
                <a:spcPts val="10732"/>
              </a:lnSpc>
            </a:pPr>
            <a:r>
              <a:rPr lang="en-US" sz="10319" b="true">
                <a:solidFill>
                  <a:srgbClr val="FFFFFF"/>
                </a:solidFill>
                <a:latin typeface="Poppins Bold"/>
                <a:ea typeface="Poppins Bold"/>
                <a:cs typeface="Poppins Bold"/>
                <a:sym typeface="Poppins Bold"/>
              </a:rPr>
              <a:t>Thank </a:t>
            </a:r>
            <a:r>
              <a:rPr lang="en-US" sz="10319" b="true">
                <a:solidFill>
                  <a:srgbClr val="C71F82"/>
                </a:solidFill>
                <a:latin typeface="Poppins Bold"/>
                <a:ea typeface="Poppins Bold"/>
                <a:cs typeface="Poppins Bold"/>
                <a:sym typeface="Poppins Bold"/>
              </a:rPr>
              <a:t>You</a:t>
            </a:r>
          </a:p>
        </p:txBody>
      </p:sp>
      <p:grpSp>
        <p:nvGrpSpPr>
          <p:cNvPr name="Group 10" id="10"/>
          <p:cNvGrpSpPr/>
          <p:nvPr/>
        </p:nvGrpSpPr>
        <p:grpSpPr>
          <a:xfrm rot="0">
            <a:off x="12348310" y="3827426"/>
            <a:ext cx="2632148" cy="2632148"/>
            <a:chOff x="0" y="0"/>
            <a:chExt cx="1652976" cy="1652976"/>
          </a:xfrm>
        </p:grpSpPr>
        <p:sp>
          <p:nvSpPr>
            <p:cNvPr name="Freeform 11" id="11"/>
            <p:cNvSpPr/>
            <p:nvPr/>
          </p:nvSpPr>
          <p:spPr>
            <a:xfrm flipH="false" flipV="false" rot="0">
              <a:off x="0" y="0"/>
              <a:ext cx="1652976" cy="1652976"/>
            </a:xfrm>
            <a:custGeom>
              <a:avLst/>
              <a:gdLst/>
              <a:ahLst/>
              <a:cxnLst/>
              <a:rect r="r" b="b" t="t" l="l"/>
              <a:pathLst>
                <a:path h="1652976" w="1652976">
                  <a:moveTo>
                    <a:pt x="82265" y="0"/>
                  </a:moveTo>
                  <a:lnTo>
                    <a:pt x="1570711" y="0"/>
                  </a:lnTo>
                  <a:cubicBezTo>
                    <a:pt x="1616145" y="0"/>
                    <a:pt x="1652976" y="36831"/>
                    <a:pt x="1652976" y="82265"/>
                  </a:cubicBezTo>
                  <a:lnTo>
                    <a:pt x="1652976" y="1570711"/>
                  </a:lnTo>
                  <a:cubicBezTo>
                    <a:pt x="1652976" y="1616145"/>
                    <a:pt x="1616145" y="1652976"/>
                    <a:pt x="1570711" y="1652976"/>
                  </a:cubicBezTo>
                  <a:lnTo>
                    <a:pt x="82265" y="1652976"/>
                  </a:lnTo>
                  <a:cubicBezTo>
                    <a:pt x="36831" y="1652976"/>
                    <a:pt x="0" y="1616145"/>
                    <a:pt x="0" y="1570711"/>
                  </a:cubicBezTo>
                  <a:lnTo>
                    <a:pt x="0" y="82265"/>
                  </a:lnTo>
                  <a:cubicBezTo>
                    <a:pt x="0" y="36831"/>
                    <a:pt x="36831" y="0"/>
                    <a:pt x="82265"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12" id="12"/>
            <p:cNvSpPr txBox="true"/>
            <p:nvPr/>
          </p:nvSpPr>
          <p:spPr>
            <a:xfrm>
              <a:off x="0" y="-38100"/>
              <a:ext cx="1652976" cy="1691076"/>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2506285" y="3980698"/>
            <a:ext cx="2316198" cy="2325603"/>
            <a:chOff x="0" y="0"/>
            <a:chExt cx="404756" cy="406400"/>
          </a:xfrm>
        </p:grpSpPr>
        <p:sp>
          <p:nvSpPr>
            <p:cNvPr name="Freeform 14" id="14"/>
            <p:cNvSpPr/>
            <p:nvPr/>
          </p:nvSpPr>
          <p:spPr>
            <a:xfrm flipH="false" flipV="false" rot="0">
              <a:off x="0" y="0"/>
              <a:ext cx="404756" cy="406400"/>
            </a:xfrm>
            <a:custGeom>
              <a:avLst/>
              <a:gdLst/>
              <a:ahLst/>
              <a:cxnLst/>
              <a:rect r="r" b="b" t="t" l="l"/>
              <a:pathLst>
                <a:path h="406400" w="404756">
                  <a:moveTo>
                    <a:pt x="76878" y="0"/>
                  </a:moveTo>
                  <a:lnTo>
                    <a:pt x="327879" y="0"/>
                  </a:lnTo>
                  <a:cubicBezTo>
                    <a:pt x="370337" y="0"/>
                    <a:pt x="404756" y="34419"/>
                    <a:pt x="404756" y="76878"/>
                  </a:cubicBezTo>
                  <a:lnTo>
                    <a:pt x="404756" y="329522"/>
                  </a:lnTo>
                  <a:cubicBezTo>
                    <a:pt x="404756" y="371981"/>
                    <a:pt x="370337" y="406400"/>
                    <a:pt x="327879" y="406400"/>
                  </a:cubicBezTo>
                  <a:lnTo>
                    <a:pt x="76878" y="406400"/>
                  </a:lnTo>
                  <a:cubicBezTo>
                    <a:pt x="34419" y="406400"/>
                    <a:pt x="0" y="371981"/>
                    <a:pt x="0" y="329522"/>
                  </a:cubicBezTo>
                  <a:lnTo>
                    <a:pt x="0" y="76878"/>
                  </a:lnTo>
                  <a:cubicBezTo>
                    <a:pt x="0" y="34419"/>
                    <a:pt x="34419" y="0"/>
                    <a:pt x="76878" y="0"/>
                  </a:cubicBezTo>
                  <a:close/>
                </a:path>
              </a:pathLst>
            </a:custGeom>
            <a:blipFill>
              <a:blip r:embed="rId3"/>
              <a:stretch>
                <a:fillRect l="-25351" t="0" r="-25351" b="0"/>
              </a:stretch>
            </a:blipFill>
          </p:spPr>
        </p:sp>
      </p:grpSp>
      <p:grpSp>
        <p:nvGrpSpPr>
          <p:cNvPr name="Group 15" id="15"/>
          <p:cNvGrpSpPr/>
          <p:nvPr/>
        </p:nvGrpSpPr>
        <p:grpSpPr>
          <a:xfrm rot="0">
            <a:off x="16249070" y="4638385"/>
            <a:ext cx="1010230" cy="10102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17" id="17"/>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18" id="18"/>
          <p:cNvSpPr txBox="true"/>
          <p:nvPr/>
        </p:nvSpPr>
        <p:spPr>
          <a:xfrm rot="0">
            <a:off x="16249070" y="4964651"/>
            <a:ext cx="1010230" cy="376748"/>
          </a:xfrm>
          <a:prstGeom prst="rect">
            <a:avLst/>
          </a:prstGeom>
        </p:spPr>
        <p:txBody>
          <a:bodyPr anchor="t" rtlCol="false" tIns="0" lIns="0" bIns="0" rIns="0">
            <a:spAutoFit/>
          </a:bodyPr>
          <a:lstStyle/>
          <a:p>
            <a:pPr algn="ctr">
              <a:lnSpc>
                <a:spcPts val="2703"/>
              </a:lnSpc>
            </a:pPr>
            <a:r>
              <a:rPr lang="en-US" sz="2599" b="true">
                <a:solidFill>
                  <a:srgbClr val="FFFFFF"/>
                </a:solidFill>
                <a:latin typeface="Poppins Bold"/>
                <a:ea typeface="Poppins Bold"/>
                <a:cs typeface="Poppins Bold"/>
                <a:sym typeface="Poppins Bold"/>
              </a:rPr>
              <a:t>02</a:t>
            </a:r>
          </a:p>
        </p:txBody>
      </p:sp>
      <p:grpSp>
        <p:nvGrpSpPr>
          <p:cNvPr name="Group 19" id="19"/>
          <p:cNvGrpSpPr/>
          <p:nvPr/>
        </p:nvGrpSpPr>
        <p:grpSpPr>
          <a:xfrm rot="0">
            <a:off x="16381397" y="6183699"/>
            <a:ext cx="745577" cy="7455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1" id="21"/>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22" id="22"/>
          <p:cNvSpPr txBox="true"/>
          <p:nvPr/>
        </p:nvSpPr>
        <p:spPr>
          <a:xfrm rot="0">
            <a:off x="16381397" y="6429483"/>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03</a:t>
            </a:r>
          </a:p>
        </p:txBody>
      </p:sp>
      <p:grpSp>
        <p:nvGrpSpPr>
          <p:cNvPr name="Group 23" id="23"/>
          <p:cNvGrpSpPr/>
          <p:nvPr/>
        </p:nvGrpSpPr>
        <p:grpSpPr>
          <a:xfrm rot="0">
            <a:off x="16381397" y="3357724"/>
            <a:ext cx="745577" cy="74557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gradFill>
                <a:gsLst>
                  <a:gs pos="0">
                    <a:srgbClr val="B900BC">
                      <a:alpha val="100000"/>
                    </a:srgbClr>
                  </a:gs>
                  <a:gs pos="100000">
                    <a:srgbClr val="009CFF">
                      <a:alpha val="100000"/>
                    </a:srgbClr>
                  </a:gs>
                </a:gsLst>
                <a:lin ang="0"/>
              </a:gradFill>
              <a:prstDash val="solid"/>
              <a:miter/>
            </a:ln>
          </p:spPr>
        </p:sp>
        <p:sp>
          <p:nvSpPr>
            <p:cNvPr name="TextBox 25" id="25"/>
            <p:cNvSpPr txBox="true"/>
            <p:nvPr/>
          </p:nvSpPr>
          <p:spPr>
            <a:xfrm>
              <a:off x="76200" y="85725"/>
              <a:ext cx="660400" cy="650875"/>
            </a:xfrm>
            <a:prstGeom prst="rect">
              <a:avLst/>
            </a:prstGeom>
          </p:spPr>
          <p:txBody>
            <a:bodyPr anchor="ctr" rtlCol="false" tIns="50800" lIns="50800" bIns="50800" rIns="50800"/>
            <a:lstStyle/>
            <a:p>
              <a:pPr algn="ctr">
                <a:lnSpc>
                  <a:spcPts val="2080"/>
                </a:lnSpc>
              </a:pPr>
            </a:p>
          </p:txBody>
        </p:sp>
      </p:grpSp>
      <p:sp>
        <p:nvSpPr>
          <p:cNvPr name="TextBox 26" id="26"/>
          <p:cNvSpPr txBox="true"/>
          <p:nvPr/>
        </p:nvSpPr>
        <p:spPr>
          <a:xfrm rot="0">
            <a:off x="16381397" y="3603508"/>
            <a:ext cx="745577" cy="273060"/>
          </a:xfrm>
          <a:prstGeom prst="rect">
            <a:avLst/>
          </a:prstGeom>
        </p:spPr>
        <p:txBody>
          <a:bodyPr anchor="t" rtlCol="false" tIns="0" lIns="0" bIns="0" rIns="0">
            <a:spAutoFit/>
          </a:bodyPr>
          <a:lstStyle/>
          <a:p>
            <a:pPr algn="ctr">
              <a:lnSpc>
                <a:spcPts val="1995"/>
              </a:lnSpc>
            </a:pPr>
            <a:r>
              <a:rPr lang="en-US" sz="1918" b="true">
                <a:solidFill>
                  <a:srgbClr val="FFFFFF"/>
                </a:solidFill>
                <a:latin typeface="Poppins Bold"/>
                <a:ea typeface="Poppins Bold"/>
                <a:cs typeface="Poppins Bold"/>
                <a:sym typeface="Poppins Bold"/>
              </a:rPr>
              <a:t>01</a:t>
            </a:r>
          </a:p>
        </p:txBody>
      </p:sp>
      <p:grpSp>
        <p:nvGrpSpPr>
          <p:cNvPr name="Group 27" id="27"/>
          <p:cNvGrpSpPr/>
          <p:nvPr/>
        </p:nvGrpSpPr>
        <p:grpSpPr>
          <a:xfrm rot="0">
            <a:off x="2204517" y="4103301"/>
            <a:ext cx="8189701" cy="2533147"/>
            <a:chOff x="0" y="0"/>
            <a:chExt cx="5143093" cy="1590805"/>
          </a:xfrm>
        </p:grpSpPr>
        <p:sp>
          <p:nvSpPr>
            <p:cNvPr name="Freeform 28" id="28"/>
            <p:cNvSpPr/>
            <p:nvPr/>
          </p:nvSpPr>
          <p:spPr>
            <a:xfrm flipH="false" flipV="false" rot="0">
              <a:off x="0" y="0"/>
              <a:ext cx="5143093" cy="1590805"/>
            </a:xfrm>
            <a:custGeom>
              <a:avLst/>
              <a:gdLst/>
              <a:ahLst/>
              <a:cxnLst/>
              <a:rect r="r" b="b" t="t" l="l"/>
              <a:pathLst>
                <a:path h="1590805" w="5143093">
                  <a:moveTo>
                    <a:pt x="26440" y="0"/>
                  </a:moveTo>
                  <a:lnTo>
                    <a:pt x="5116654" y="0"/>
                  </a:lnTo>
                  <a:cubicBezTo>
                    <a:pt x="5131256" y="0"/>
                    <a:pt x="5143093" y="11837"/>
                    <a:pt x="5143093" y="26440"/>
                  </a:cubicBezTo>
                  <a:lnTo>
                    <a:pt x="5143093" y="1564365"/>
                  </a:lnTo>
                  <a:cubicBezTo>
                    <a:pt x="5143093" y="1578967"/>
                    <a:pt x="5131256" y="1590805"/>
                    <a:pt x="5116654" y="1590805"/>
                  </a:cubicBezTo>
                  <a:lnTo>
                    <a:pt x="26440" y="1590805"/>
                  </a:lnTo>
                  <a:cubicBezTo>
                    <a:pt x="11837" y="1590805"/>
                    <a:pt x="0" y="1578967"/>
                    <a:pt x="0" y="1564365"/>
                  </a:cubicBezTo>
                  <a:lnTo>
                    <a:pt x="0" y="26440"/>
                  </a:lnTo>
                  <a:cubicBezTo>
                    <a:pt x="0" y="11837"/>
                    <a:pt x="11837" y="0"/>
                    <a:pt x="26440"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29" id="29"/>
            <p:cNvSpPr txBox="true"/>
            <p:nvPr/>
          </p:nvSpPr>
          <p:spPr>
            <a:xfrm>
              <a:off x="0" y="-38100"/>
              <a:ext cx="5143093" cy="1628905"/>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4822765" y="6702542"/>
            <a:ext cx="2967069" cy="807119"/>
            <a:chOff x="0" y="0"/>
            <a:chExt cx="418225" cy="113768"/>
          </a:xfrm>
        </p:grpSpPr>
        <p:sp>
          <p:nvSpPr>
            <p:cNvPr name="Freeform 31" id="31"/>
            <p:cNvSpPr/>
            <p:nvPr/>
          </p:nvSpPr>
          <p:spPr>
            <a:xfrm flipH="false" flipV="false" rot="0">
              <a:off x="0" y="0"/>
              <a:ext cx="418225" cy="113768"/>
            </a:xfrm>
            <a:custGeom>
              <a:avLst/>
              <a:gdLst/>
              <a:ahLst/>
              <a:cxnLst/>
              <a:rect r="r" b="b" t="t" l="l"/>
              <a:pathLst>
                <a:path h="113768" w="418225">
                  <a:moveTo>
                    <a:pt x="56884" y="0"/>
                  </a:moveTo>
                  <a:lnTo>
                    <a:pt x="361341" y="0"/>
                  </a:lnTo>
                  <a:cubicBezTo>
                    <a:pt x="376427" y="0"/>
                    <a:pt x="390896" y="5993"/>
                    <a:pt x="401564" y="16661"/>
                  </a:cubicBezTo>
                  <a:cubicBezTo>
                    <a:pt x="412232" y="27329"/>
                    <a:pt x="418225" y="41797"/>
                    <a:pt x="418225" y="56884"/>
                  </a:cubicBezTo>
                  <a:lnTo>
                    <a:pt x="418225" y="56884"/>
                  </a:lnTo>
                  <a:cubicBezTo>
                    <a:pt x="418225" y="88300"/>
                    <a:pt x="392757" y="113768"/>
                    <a:pt x="361341" y="113768"/>
                  </a:cubicBezTo>
                  <a:lnTo>
                    <a:pt x="56884" y="113768"/>
                  </a:lnTo>
                  <a:cubicBezTo>
                    <a:pt x="25468" y="113768"/>
                    <a:pt x="0" y="88300"/>
                    <a:pt x="0" y="56884"/>
                  </a:cubicBezTo>
                  <a:lnTo>
                    <a:pt x="0" y="56884"/>
                  </a:lnTo>
                  <a:cubicBezTo>
                    <a:pt x="0" y="25468"/>
                    <a:pt x="25468" y="0"/>
                    <a:pt x="56884" y="0"/>
                  </a:cubicBezTo>
                  <a:close/>
                </a:path>
              </a:pathLst>
            </a:custGeom>
            <a:ln w="19050" cap="rnd">
              <a:gradFill>
                <a:gsLst>
                  <a:gs pos="0">
                    <a:srgbClr val="B900BC">
                      <a:alpha val="100000"/>
                    </a:srgbClr>
                  </a:gs>
                  <a:gs pos="100000">
                    <a:srgbClr val="009CFF">
                      <a:alpha val="100000"/>
                    </a:srgbClr>
                  </a:gs>
                </a:gsLst>
                <a:lin ang="0"/>
              </a:gradFill>
              <a:prstDash val="solid"/>
              <a:round/>
            </a:ln>
          </p:spPr>
        </p:sp>
        <p:sp>
          <p:nvSpPr>
            <p:cNvPr name="TextBox 32" id="32"/>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sp>
        <p:nvSpPr>
          <p:cNvPr name="TextBox 33" id="33"/>
          <p:cNvSpPr txBox="true"/>
          <p:nvPr/>
        </p:nvSpPr>
        <p:spPr>
          <a:xfrm rot="0">
            <a:off x="5072969" y="6831465"/>
            <a:ext cx="2466661"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Exit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DAG7O8gNhSg</dc:identifier>
  <dcterms:modified xsi:type="dcterms:W3CDTF">2011-08-01T06:04:30Z</dcterms:modified>
  <cp:revision>1</cp:revision>
  <dc:title>Black and Purple Gradient Modern Data Analyst Presentation</dc:title>
</cp:coreProperties>
</file>